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8" r:id="rId2"/>
    <p:sldId id="328" r:id="rId3"/>
    <p:sldId id="262" r:id="rId4"/>
    <p:sldId id="263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7" r:id="rId17"/>
    <p:sldId id="276" r:id="rId18"/>
    <p:sldId id="278" r:id="rId19"/>
    <p:sldId id="279" r:id="rId20"/>
    <p:sldId id="749" r:id="rId21"/>
    <p:sldId id="751" r:id="rId22"/>
    <p:sldId id="752" r:id="rId23"/>
    <p:sldId id="753" r:id="rId24"/>
    <p:sldId id="754" r:id="rId25"/>
    <p:sldId id="755" r:id="rId26"/>
    <p:sldId id="75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453"/>
    <p:restoredTop sz="96327"/>
  </p:normalViewPr>
  <p:slideViewPr>
    <p:cSldViewPr snapToGrid="0">
      <p:cViewPr varScale="1">
        <p:scale>
          <a:sx n="64" d="100"/>
          <a:sy n="64" d="100"/>
        </p:scale>
        <p:origin x="176" y="1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07T13:26:24.878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24361 10485 7982,'-13'-30'1559,"0"1"0,-5-5 1,-5 0-1201,-14 3 1,-5 2-45,-1-2 0,-3 3-1177,12 12 1,-2 3 0,-1 3 951,-4 0 0,-1 3 0,-1 4 60,-5 4 0,-2 5 0,-1 4-83,4 4 1,-1 4-1,-1 3 1,-1 3-490,6-1 0,-2 3 0,1 2 1,-1 2-1,1 2 497,3 0 0,1 2 0,-1 2 0,1 1 0,0 1 0,-1 1-11,4-5 0,0 2 0,-1 0 1,1 1-1,0 0 0,1 1 1,2 0-116,2 1 0,1-1 0,1 2 0,1-1 0,0 1 0,2 1 0,1-1 81,-3 5 0,1 1 0,2 1 0,1-1 0,2 0 0,3-2 6,2 2 0,1-2 0,3 0 0,4 0 0,7-2-229,8 7 1,6 0-1,7-3 1,7-7 192,9-6 0,7-7 0,6-4 0,3-2-95,-8-7 0,4-2 0,1-2 1,2-3-1,1-1 0,1-2 5,1-1 0,1-4 0,1-1 0,1-2 0,1-1 1,-1 0-1,0-2-26,0 0 0,1-2 1,-1 0-1,0-2 1,1 0-1,-2-2 0,1 0 48,-7 0 1,1 0-1,-1-2 1,1 0 0,-1 0-1,-1-1 1,-1-1 0,-1 0 28,3-1 0,-2-1 1,0 0-1,-1-1 1,-1-1-1,-2 0 1,-1-2 47,0-2 0,-1-2 0,-1-1 0,-3 0 0,-1-2 0,-3 0 9,1-5 0,-2 0 0,-2-2 0,-4 0 0,-3-1 34,0-9 1,-4-1-1,-5-2 1,-6 0 1,-6 8 0,-4-2 0,-4-1 0,-2 2 0,-3 0-32,-4-8 0,-4 1 1,-4 2-1,-3 1-58,1 8 0,-3 1 0,-3 1 0,-1 1 1,-2 4-184,-1 1 1,-4 2 0,0 2 0,-2 3 0,0 2-1549,-8 1 1,-1 4 0,-1 2 0,0 3 1766,2 1 0,0 2 0,1 2 0,4 3 0,5 3 0,4 3 0,2 0 0,0-1 0,1 0 0</inkml:trace>
  <inkml:trace contextRef="#ctx0" brushRef="#br0" timeOffset="684">27517 10367 11400,'-29'-11'5397,"-10"3"-4722,11 13 0,-3 7-1439,-7 5 1,-2 5 1182,5-1 1,-1 2 0,0 3-90,-4 9 0,0 4 0,0 2-128,7-6 0,0 1 1,1 2-1,2 1-670,4-2 0,2 1 1,0 2-1,1 1 0,2-1 504,1 1 0,1 1 0,1 0 0,1 0 0,2 0-59,-3 10 1,1 0 0,3 0-1,4-1-40,5-3 0,2-1 0,4-1 0,4-2 85,4-2 1,4-1-1,3-3 1,5-2-113,6-2 0,4-3 0,4-2 0,1-3-180,3 0 0,3-3 0,2-2 1,1-4-343,6-2 0,2-5 0,2-2 0,0-2 342,-1 0 0,0-2 0,1-3 0,-1-3 36,-10-3 0,0-3 0,-1-2 1,1-1-1,-1-1 144,1 0 0,-1 0 0,0-2 0,0-1 0,-3-4 90,0-2 0,-2-3 0,-1-2 0,-1-2 0,1 1 36,1-1 0,0 0 0,-1-1 0,0-2 0,-2-1 108,-1-2 0,-2-3 0,-1 0 0,0-2 0,0 1 35,-1-1 1,1 1 0,-1-2 0,-2 0 0,-2-1-54,-2-1 0,-3-1 0,-1-1 0,-1 0 0,-3 1 31,2-7 0,-2 0 1,-2 1-1,-3 0-128,-2 4 0,0-1 1,-6 2-1,-7 3-29,-14-9 0,-10 3 0,-7 6 0,5 14 0,-3 4 0,-5 2 0,-2 3 0,-4 3 0,-4 4 0,-3 2 0,-1 2 0,0 1-64,5 2 0,-2 2 1,0 2-1,-2 0 0,1 3 1,0 0-297,-4 3 0,0 1 0,-1 2 0,0 1 1,1 2-1,1 1-331,2 0 1,0 2 0,1 0-1,0 3 1,2 0 0,0 3 690,1 2 0,1 3 0,0 2 0,2 0 0,2-1 0,4-2 0,-12 6 0,5-1 0,5 0 0,11-1 0,0 0 0,0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5T13:52:47.0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17079 7807 24575,'0'0'0</inkml:trace>
  <inkml:trace contextRef="#ctx0" brushRef="#br0" timeOffset="6195">26361 342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BCAE2-31F6-80D1-9CF0-4115E0B33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786B9-9786-88A9-7943-7B8427E10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C3D2C-41DE-A888-7ED4-C0445B9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78499-5206-7A40-A7C9-F0A2F61B196E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58488C-8BE7-AFA9-3041-4E8C3D57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0B499-9178-BB6C-A11D-404440DC2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7CA2-B765-1F4B-968D-46B6C1370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29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53DD0-95BC-8330-D9D8-81F05C559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D6AC2-2EF5-E040-A33A-AF33F5555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C6F19-3D6E-4135-3381-3C214FF90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78499-5206-7A40-A7C9-F0A2F61B196E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A1E5A-769F-4377-E64A-B91A39B11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AFED1-9EE0-C20D-3A60-474D61461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7CA2-B765-1F4B-968D-46B6C1370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19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D72C-3237-1D0D-DC73-AF3DE6FBD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9FC76-A118-332A-E4DE-5E50F207F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5833B-70B1-269A-8A41-09C2085E8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78499-5206-7A40-A7C9-F0A2F61B196E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1E465-0AF0-F01F-C4F7-E9D91434C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7759C-ACEE-AA2B-FFD9-500A8B6E0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7CA2-B765-1F4B-968D-46B6C1370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9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62C4B-7BC3-A096-0B77-BCA24DFF6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A39A4-2A9D-1F8C-11B8-75C3E3418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822846-C692-C421-4852-0FD98AB506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3257B-9BBB-98B0-835D-247C09C2E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78499-5206-7A40-A7C9-F0A2F61B196E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1291-B33F-DB08-6904-A262AB62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87550-53A5-15C7-3F52-33CA3B7AE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7CA2-B765-1F4B-968D-46B6C1370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96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75DB7-6F39-6B7D-EBB4-1C705508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5B775A-A836-F2CD-4488-07BBA90B9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9F7C8-462D-52F4-4F3A-7A224FF3A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EB6592-51FA-B657-853F-1514A8880E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ABDBB-C753-DA11-1849-EDD87D0265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044DF2-A4F9-5AB6-7407-3DF397C78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78499-5206-7A40-A7C9-F0A2F61B196E}" type="datetimeFigureOut">
              <a:rPr lang="en-US" smtClean="0"/>
              <a:t>1/1/26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E2AF9C-7C38-2B27-6FC1-6A0A7A71D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F7AA9C-B24B-D37B-1767-8062122F8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7CA2-B765-1F4B-968D-46B6C1370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9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2705D-5C1E-008B-6C46-FBC7260D9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487B8E-BA36-B11E-F836-ABAB23F47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78499-5206-7A40-A7C9-F0A2F61B196E}" type="datetimeFigureOut">
              <a:rPr lang="en-US" smtClean="0"/>
              <a:t>1/1/26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A7188D-4FEB-8E1A-FEE5-4A89723D6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EFCFD-EF10-5F3E-BA10-3FA49C908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7CA2-B765-1F4B-968D-46B6C1370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17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5F63A3-C5A7-DB63-96F7-FFF5514A6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78499-5206-7A40-A7C9-F0A2F61B196E}" type="datetimeFigureOut">
              <a:rPr lang="en-US" smtClean="0"/>
              <a:t>1/1/26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DD827A-3139-CA1C-5080-F4299FDFD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2A52C-A661-4669-6CE0-0A6744E71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7CA2-B765-1F4B-968D-46B6C1370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82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787BD-1666-AC33-4903-8647CBE33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D6D7B-ADBF-FFBB-2DF6-A16AE10031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1A4E9B-FC62-6337-B04F-AB6345F93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EB22B-127A-B580-58BD-F09AC5BDC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78499-5206-7A40-A7C9-F0A2F61B196E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667BCB-6A62-3BE5-383D-525F3954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DB045-2DC4-0B51-BB1B-865E60CD5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7CA2-B765-1F4B-968D-46B6C1370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2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8D22D-D98B-083F-EBDE-6D3351F45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F389E9-D009-D5AE-BD8A-FC0E0D8DB6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5D117-2399-93E0-38BC-998A77BE5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8D20D-3702-FEA4-FEE6-165E64A7A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78499-5206-7A40-A7C9-F0A2F61B196E}" type="datetimeFigureOut">
              <a:rPr lang="en-US" smtClean="0"/>
              <a:t>1/1/26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119D9-EBC1-5318-AB4A-0121DBD89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6B509-6E2E-448D-F625-AC8776119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7CA2-B765-1F4B-968D-46B6C1370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81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1C681-7AD9-C1F6-B1E0-019F55289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C5EB37-B142-FE68-34C2-2DDA9CD28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37DBC-7F8C-FD71-DAA2-BC70408B9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78499-5206-7A40-A7C9-F0A2F61B196E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379AC-D7A5-BFB2-A957-466C3414A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671550-362D-B54D-1F07-3AD295E96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7CA2-B765-1F4B-968D-46B6C1370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66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E64E48-5D5A-CFED-7797-EFFF4639FC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007E1-8441-4BEB-0BFB-F1A17C4B78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D1E1A-05FE-CC64-133D-CF5DEE642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78499-5206-7A40-A7C9-F0A2F61B196E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5FEAB-4D6C-402E-9202-B6DEB80B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9C635-5A4F-D313-E9A1-FBC39368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37CA2-B765-1F4B-968D-46B6C1370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12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E3137A-0900-3171-2F73-D20523066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88DDF-FF6E-DC0C-EB46-D0347941A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71C98-55DC-5D9F-2CE1-B93AEB994C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778499-5206-7A40-A7C9-F0A2F61B196E}" type="datetimeFigureOut">
              <a:rPr lang="en-US" smtClean="0"/>
              <a:t>1/1/26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6DC16A-4943-07B3-502E-F0498279B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54733-F501-91B8-681C-29D0B3F6A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37CA2-B765-1F4B-968D-46B6C1370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15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customXml" Target="../ink/ink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3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BD3AC-550C-F448-AA0E-9671A0B2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EN.580.428 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Genomic Data Visualization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  <a:t>Lesson 5</a:t>
            </a:r>
            <a:br>
              <a:rPr lang="en-US" sz="5400" b="0" i="0" dirty="0">
                <a:solidFill>
                  <a:srgbClr val="202124"/>
                </a:solidFill>
                <a:effectLst/>
                <a:latin typeface="docs-Roboto"/>
              </a:rPr>
            </a:br>
            <a:br>
              <a:rPr lang="en-US" sz="5000" dirty="0"/>
            </a:br>
            <a:r>
              <a:rPr lang="en-US" sz="5000" dirty="0"/>
              <a:t>K-means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2EFB6-6688-534D-88FE-6CB4D5345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2729" y="5499895"/>
            <a:ext cx="9638443" cy="48463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Prof. Jean Fan</a:t>
            </a:r>
          </a:p>
        </p:txBody>
      </p:sp>
    </p:spTree>
    <p:extLst>
      <p:ext uri="{BB962C8B-B14F-4D97-AF65-F5344CB8AC3E}">
        <p14:creationId xmlns:p14="http://schemas.microsoft.com/office/powerpoint/2010/main" val="55541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BF69B-E6EA-2A43-801A-0AFB317A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F0B12-4A98-5C4C-9933-412E66E36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Learn about and apply k-means clustering</a:t>
            </a:r>
          </a:p>
          <a:p>
            <a:r>
              <a:rPr lang="en-US" b="0" i="0" dirty="0">
                <a:effectLst/>
                <a:latin typeface="-apple-system"/>
              </a:rPr>
              <a:t>Practice interpreting data visualizations integrating normalization, dimensionality reduction, and k-means</a:t>
            </a:r>
          </a:p>
        </p:txBody>
      </p:sp>
    </p:spTree>
    <p:extLst>
      <p:ext uri="{BB962C8B-B14F-4D97-AF65-F5344CB8AC3E}">
        <p14:creationId xmlns:p14="http://schemas.microsoft.com/office/powerpoint/2010/main" val="810943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72F0-FD10-DBE2-E1DA-D96E4E3B2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cluster?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B48843-189A-EB6E-3650-B946954435A8}"/>
              </a:ext>
            </a:extLst>
          </p:cNvPr>
          <p:cNvSpPr txBox="1"/>
          <p:nvPr/>
        </p:nvSpPr>
        <p:spPr>
          <a:xfrm>
            <a:off x="3185844" y="5288481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05A53-70F3-EB10-A548-CFE4D1354ADF}"/>
              </a:ext>
            </a:extLst>
          </p:cNvPr>
          <p:cNvSpPr txBox="1"/>
          <p:nvPr/>
        </p:nvSpPr>
        <p:spPr>
          <a:xfrm rot="16200000">
            <a:off x="1496201" y="3544195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9B9E37-FB2C-2DE1-093A-38A702A9AFEC}"/>
              </a:ext>
            </a:extLst>
          </p:cNvPr>
          <p:cNvCxnSpPr/>
          <p:nvPr/>
        </p:nvCxnSpPr>
        <p:spPr>
          <a:xfrm flipV="1">
            <a:off x="2111433" y="2345775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09FAB7-CB93-4863-48E4-5C1D070C690A}"/>
              </a:ext>
            </a:extLst>
          </p:cNvPr>
          <p:cNvCxnSpPr>
            <a:cxnSpLocks/>
          </p:cNvCxnSpPr>
          <p:nvPr/>
        </p:nvCxnSpPr>
        <p:spPr>
          <a:xfrm>
            <a:off x="2111433" y="5288481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D711BD5-FA71-5913-FC07-054BEF23E98D}"/>
              </a:ext>
            </a:extLst>
          </p:cNvPr>
          <p:cNvSpPr/>
          <p:nvPr/>
        </p:nvSpPr>
        <p:spPr>
          <a:xfrm>
            <a:off x="2310938" y="4322618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6D07360-C982-A49B-E896-382B24327443}"/>
              </a:ext>
            </a:extLst>
          </p:cNvPr>
          <p:cNvSpPr/>
          <p:nvPr/>
        </p:nvSpPr>
        <p:spPr>
          <a:xfrm>
            <a:off x="2499010" y="4769521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0A70529-32AD-4B61-27EC-8AE5FA1CA5C6}"/>
              </a:ext>
            </a:extLst>
          </p:cNvPr>
          <p:cNvSpPr/>
          <p:nvPr/>
        </p:nvSpPr>
        <p:spPr>
          <a:xfrm>
            <a:off x="2858527" y="4424697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C44E97C-315C-48C0-6A5F-705B6E38F7D5}"/>
              </a:ext>
            </a:extLst>
          </p:cNvPr>
          <p:cNvSpPr/>
          <p:nvPr/>
        </p:nvSpPr>
        <p:spPr>
          <a:xfrm>
            <a:off x="3019308" y="2864796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EAD914B-870B-C6E3-1352-2237D14B43DC}"/>
              </a:ext>
            </a:extLst>
          </p:cNvPr>
          <p:cNvSpPr/>
          <p:nvPr/>
        </p:nvSpPr>
        <p:spPr>
          <a:xfrm>
            <a:off x="3207380" y="3311699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50C33D9-BE45-414F-CE91-551E59E3430F}"/>
              </a:ext>
            </a:extLst>
          </p:cNvPr>
          <p:cNvSpPr/>
          <p:nvPr/>
        </p:nvSpPr>
        <p:spPr>
          <a:xfrm>
            <a:off x="3566897" y="2966875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8B952E0-DE97-105C-0C4C-5078F0968BC2}"/>
              </a:ext>
            </a:extLst>
          </p:cNvPr>
          <p:cNvSpPr/>
          <p:nvPr/>
        </p:nvSpPr>
        <p:spPr>
          <a:xfrm>
            <a:off x="4014166" y="3978701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F24D318-8F0E-1A75-B15D-9956206F08AD}"/>
              </a:ext>
            </a:extLst>
          </p:cNvPr>
          <p:cNvSpPr/>
          <p:nvPr/>
        </p:nvSpPr>
        <p:spPr>
          <a:xfrm>
            <a:off x="4202238" y="4425604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E6F8D00-9B82-1AF7-06AB-F0A22F849C9C}"/>
              </a:ext>
            </a:extLst>
          </p:cNvPr>
          <p:cNvSpPr/>
          <p:nvPr/>
        </p:nvSpPr>
        <p:spPr>
          <a:xfrm>
            <a:off x="4561755" y="408078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E8BDC3A-DC9F-BC7D-DF0E-A701244A24F3}"/>
              </a:ext>
            </a:extLst>
          </p:cNvPr>
          <p:cNvSpPr txBox="1"/>
          <p:nvPr/>
        </p:nvSpPr>
        <p:spPr>
          <a:xfrm>
            <a:off x="7524060" y="52563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3DEF16-87F0-1A51-A36B-F14AED3E0317}"/>
              </a:ext>
            </a:extLst>
          </p:cNvPr>
          <p:cNvSpPr txBox="1"/>
          <p:nvPr/>
        </p:nvSpPr>
        <p:spPr>
          <a:xfrm rot="16200000">
            <a:off x="5834417" y="35120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A87B0CD-9761-B88F-BB21-027BF3B11766}"/>
              </a:ext>
            </a:extLst>
          </p:cNvPr>
          <p:cNvCxnSpPr/>
          <p:nvPr/>
        </p:nvCxnSpPr>
        <p:spPr>
          <a:xfrm flipV="1">
            <a:off x="6449649" y="23136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B25A02-9484-7B9B-8790-C358D2A5BABA}"/>
              </a:ext>
            </a:extLst>
          </p:cNvPr>
          <p:cNvCxnSpPr>
            <a:cxnSpLocks/>
          </p:cNvCxnSpPr>
          <p:nvPr/>
        </p:nvCxnSpPr>
        <p:spPr>
          <a:xfrm>
            <a:off x="6449649" y="52563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EA8A490-F57D-6911-E4FB-6152BEEE3E58}"/>
              </a:ext>
            </a:extLst>
          </p:cNvPr>
          <p:cNvSpPr/>
          <p:nvPr/>
        </p:nvSpPr>
        <p:spPr>
          <a:xfrm>
            <a:off x="6649154" y="4290457"/>
            <a:ext cx="299258" cy="299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8164330-7298-961F-6C84-8337A45FA97A}"/>
              </a:ext>
            </a:extLst>
          </p:cNvPr>
          <p:cNvSpPr/>
          <p:nvPr/>
        </p:nvSpPr>
        <p:spPr>
          <a:xfrm>
            <a:off x="6837226" y="4737360"/>
            <a:ext cx="299258" cy="299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AFCDB2D-6F6D-5587-E64A-62DA14D78D43}"/>
              </a:ext>
            </a:extLst>
          </p:cNvPr>
          <p:cNvSpPr/>
          <p:nvPr/>
        </p:nvSpPr>
        <p:spPr>
          <a:xfrm>
            <a:off x="7196743" y="4392536"/>
            <a:ext cx="299258" cy="2992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4289CD3-0E40-28BB-BA26-95EFF86168F7}"/>
              </a:ext>
            </a:extLst>
          </p:cNvPr>
          <p:cNvSpPr/>
          <p:nvPr/>
        </p:nvSpPr>
        <p:spPr>
          <a:xfrm>
            <a:off x="7357524" y="2832635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7BCB4D0-5738-92FC-A100-015F9CCF8AA9}"/>
              </a:ext>
            </a:extLst>
          </p:cNvPr>
          <p:cNvSpPr/>
          <p:nvPr/>
        </p:nvSpPr>
        <p:spPr>
          <a:xfrm>
            <a:off x="7545596" y="3279538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CF57D91-4078-D269-7DF5-B5A0FFF9D1A2}"/>
              </a:ext>
            </a:extLst>
          </p:cNvPr>
          <p:cNvSpPr/>
          <p:nvPr/>
        </p:nvSpPr>
        <p:spPr>
          <a:xfrm>
            <a:off x="7905113" y="2934714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3823C99-B191-8988-D80E-3EDD61702DA9}"/>
              </a:ext>
            </a:extLst>
          </p:cNvPr>
          <p:cNvSpPr/>
          <p:nvPr/>
        </p:nvSpPr>
        <p:spPr>
          <a:xfrm>
            <a:off x="8352382" y="394654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3DC4876-E021-72B9-DD7F-820B04780E77}"/>
              </a:ext>
            </a:extLst>
          </p:cNvPr>
          <p:cNvSpPr/>
          <p:nvPr/>
        </p:nvSpPr>
        <p:spPr>
          <a:xfrm>
            <a:off x="8540454" y="4393443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0EEE5CB-FF34-8886-5611-C00396BCC4F6}"/>
              </a:ext>
            </a:extLst>
          </p:cNvPr>
          <p:cNvSpPr/>
          <p:nvPr/>
        </p:nvSpPr>
        <p:spPr>
          <a:xfrm>
            <a:off x="8899971" y="4048619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5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9C02-DD97-12E6-A430-73E1AF06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8EDC8-CB33-C8AA-9DB8-9C2B5EB78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Step 1: randomly place k centroids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51818D-F51B-CF51-C13E-7548A6191668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6ED48A-EE63-CD14-F9FB-C54131CB6E8F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956D92-2072-B087-9FDC-A5D595F6798F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D2F4A53-4930-78CB-4E1E-FC8074CF345D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F4FF23F0-7BE5-2717-8301-4B85FF603A9F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C8958AF-0C87-6844-2AC6-8D9DA0074FAF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D09EC3C-D32B-C245-9B73-4B8EA2CB2318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78DC475-959A-86B3-9764-3EA61822CFF2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526163C-5A0F-F7D1-9CD0-A39DC3901F3D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35DB4E5-56EA-E0C1-BD06-5AB653D575DC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9DF8BBA-325B-389E-F5DE-040678D443AC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9FC346B-B923-D6A4-BB78-37516B890892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BBDC283-F288-2DA5-799D-5DD53F175503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5052E44-631A-8A0C-A4FD-4455EF695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508" y="1825625"/>
            <a:ext cx="2661928" cy="44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00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9C02-DD97-12E6-A430-73E1AF06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8EDC8-CB33-C8AA-9DB8-9C2B5EB78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130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2: for each observation (x), find the nearest centroid</a:t>
            </a:r>
          </a:p>
        </p:txBody>
      </p:sp>
      <p:pic>
        <p:nvPicPr>
          <p:cNvPr id="3074" name="Picture 2" descr="K-Means Clustering — The Science of Machine Learning">
            <a:extLst>
              <a:ext uri="{FF2B5EF4-FFF2-40B4-BE49-F238E27FC236}">
                <a16:creationId xmlns:a16="http://schemas.microsoft.com/office/drawing/2014/main" id="{ACBBC6FF-BE39-AD44-7EEC-898968FB10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90" b="62187"/>
          <a:stretch/>
        </p:blipFill>
        <p:spPr bwMode="auto">
          <a:xfrm>
            <a:off x="6954343" y="1709348"/>
            <a:ext cx="3895365" cy="1208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F0E44C7-93BB-8554-1B26-784974557DC6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00AC59-FC82-2E32-6578-D16817A4B72C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2271F16-90EA-8AC8-C542-C31A7909EF95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064E9D-26B6-4CA0-1745-3E6BECB637D5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91E020F-7069-732C-E73A-052BF23E5254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D36547A-B63E-822D-5E7A-7C13B5A9B74C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9B72B95-8F4E-75AE-9D40-DCE34A599EFF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9333EF6-8A61-972B-1601-B36A07AD6EC4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CDA73A8-15D2-4AAC-5EA0-031A3C0003D4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CF54FE5-7DD5-B543-E057-2E7BD409BA87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9F43BF9-56F1-253F-EE50-AF4E0220A845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35D3B5F-C350-3AFA-A135-C6DBC5F7A889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A4FC9B-6BC2-8750-1276-87E3CCA9FF77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60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9C02-DD97-12E6-A430-73E1AF06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8EDC8-CB33-C8AA-9DB8-9C2B5EB78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31308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3: assign the observation (x) to that cluster</a:t>
            </a:r>
          </a:p>
        </p:txBody>
      </p:sp>
      <p:pic>
        <p:nvPicPr>
          <p:cNvPr id="3074" name="Picture 2" descr="K-Means Clustering — The Science of Machine Learning">
            <a:extLst>
              <a:ext uri="{FF2B5EF4-FFF2-40B4-BE49-F238E27FC236}">
                <a16:creationId xmlns:a16="http://schemas.microsoft.com/office/drawing/2014/main" id="{ACBBC6FF-BE39-AD44-7EEC-898968FB10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590" b="62187"/>
          <a:stretch/>
        </p:blipFill>
        <p:spPr bwMode="auto">
          <a:xfrm>
            <a:off x="6954343" y="1709348"/>
            <a:ext cx="3895365" cy="1208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50ECF0-1CAA-3330-0510-7E924D2B0931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8D5C20-1EAF-E38C-B4F5-912CD3C6E1B2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142E70-F015-9A51-3A89-00B3CB2C59E9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66D826-13D8-C04A-E85B-F50F8BB242C5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BE7BAC6-83EF-2DA5-52B7-5611C5F424D8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9DE82C-4192-59D8-482E-78AC22B71AD9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A525F3-B3F1-A0C6-09D2-AD16B45C349B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A5D54A-4078-968F-C59E-7FE41E904EB2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89EDEE-8296-2961-264F-531CAD9E2308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612347E-995C-84A0-36F2-CBEF00B3503E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3BAE3A2-F68A-72D7-EAB7-673D99A96718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7E20E2-8BFE-3402-531F-78567D65925E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07AEC7-2E25-44EB-198C-51286486E8EA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5-Point Star 25">
            <a:extLst>
              <a:ext uri="{FF2B5EF4-FFF2-40B4-BE49-F238E27FC236}">
                <a16:creationId xmlns:a16="http://schemas.microsoft.com/office/drawing/2014/main" id="{F6D336CD-61D2-FEE8-B537-256C175F3667}"/>
              </a:ext>
            </a:extLst>
          </p:cNvPr>
          <p:cNvSpPr/>
          <p:nvPr/>
        </p:nvSpPr>
        <p:spPr>
          <a:xfrm>
            <a:off x="5714946" y="4078045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5-Point Star 26">
            <a:extLst>
              <a:ext uri="{FF2B5EF4-FFF2-40B4-BE49-F238E27FC236}">
                <a16:creationId xmlns:a16="http://schemas.microsoft.com/office/drawing/2014/main" id="{E03C3FB8-E4FF-BAE5-78FE-318CA6AD0841}"/>
              </a:ext>
            </a:extLst>
          </p:cNvPr>
          <p:cNvSpPr/>
          <p:nvPr/>
        </p:nvSpPr>
        <p:spPr>
          <a:xfrm>
            <a:off x="4989670" y="4899728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FBF65B-EB90-E3FA-C65F-23E1C8B82960}"/>
              </a:ext>
            </a:extLst>
          </p:cNvPr>
          <p:cNvSpPr txBox="1"/>
          <p:nvPr/>
        </p:nvSpPr>
        <p:spPr>
          <a:xfrm>
            <a:off x="5434212" y="41178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304E01F-3E83-83FB-B986-37F10D298190}"/>
              </a:ext>
            </a:extLst>
          </p:cNvPr>
          <p:cNvSpPr txBox="1"/>
          <p:nvPr/>
        </p:nvSpPr>
        <p:spPr>
          <a:xfrm>
            <a:off x="5044064" y="45559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34" name="5-Point Star 33">
            <a:extLst>
              <a:ext uri="{FF2B5EF4-FFF2-40B4-BE49-F238E27FC236}">
                <a16:creationId xmlns:a16="http://schemas.microsoft.com/office/drawing/2014/main" id="{4AAD116F-8582-1EE6-4265-EAE35C509103}"/>
              </a:ext>
            </a:extLst>
          </p:cNvPr>
          <p:cNvSpPr/>
          <p:nvPr/>
        </p:nvSpPr>
        <p:spPr>
          <a:xfrm>
            <a:off x="5714947" y="2945514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AB5C57-79B6-7195-769E-2065AB0A35E7}"/>
              </a:ext>
            </a:extLst>
          </p:cNvPr>
          <p:cNvSpPr txBox="1"/>
          <p:nvPr/>
        </p:nvSpPr>
        <p:spPr>
          <a:xfrm>
            <a:off x="5476918" y="287093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64195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9C02-DD97-12E6-A430-73E1AF06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8EDC8-CB33-C8AA-9DB8-9C2B5EB78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4: for each cluster, recompute to find a new centroid based on the observations in that cluster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50ECF0-1CAA-3330-0510-7E924D2B0931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8D5C20-1EAF-E38C-B4F5-912CD3C6E1B2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142E70-F015-9A51-3A89-00B3CB2C59E9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66D826-13D8-C04A-E85B-F50F8BB242C5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BE7BAC6-83EF-2DA5-52B7-5611C5F424D8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9DE82C-4192-59D8-482E-78AC22B71AD9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A525F3-B3F1-A0C6-09D2-AD16B45C349B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A5D54A-4078-968F-C59E-7FE41E904EB2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89EDEE-8296-2961-264F-531CAD9E2308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612347E-995C-84A0-36F2-CBEF00B3503E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3BAE3A2-F68A-72D7-EAB7-673D99A96718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7E20E2-8BFE-3402-531F-78567D65925E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07AEC7-2E25-44EB-198C-51286486E8EA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54E660-522A-1E28-88CC-1BF778AEB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344" y="2674214"/>
            <a:ext cx="3300811" cy="54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546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9C02-DD97-12E6-A430-73E1AF06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8EDC8-CB33-C8AA-9DB8-9C2B5EB78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5: repeat steps 2 through 4 until cluster assignments no longer change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50ECF0-1CAA-3330-0510-7E924D2B0931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8D5C20-1EAF-E38C-B4F5-912CD3C6E1B2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142E70-F015-9A51-3A89-00B3CB2C59E9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66D826-13D8-C04A-E85B-F50F8BB242C5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BE7BAC6-83EF-2DA5-52B7-5611C5F424D8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9DE82C-4192-59D8-482E-78AC22B71AD9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A525F3-B3F1-A0C6-09D2-AD16B45C349B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A5D54A-4078-968F-C59E-7FE41E904EB2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89EDEE-8296-2961-264F-531CAD9E2308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612347E-995C-84A0-36F2-CBEF00B3503E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3BAE3A2-F68A-72D7-EAB7-673D99A96718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7E20E2-8BFE-3402-531F-78567D65925E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07AEC7-2E25-44EB-198C-51286486E8EA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9EB3A4EF-82DF-3BCC-E6D4-7791F8BB0771}"/>
              </a:ext>
            </a:extLst>
          </p:cNvPr>
          <p:cNvSpPr/>
          <p:nvPr/>
        </p:nvSpPr>
        <p:spPr>
          <a:xfrm>
            <a:off x="5686888" y="3341632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AD7A2-9B67-7C26-0478-27BFE10ECC7A}"/>
              </a:ext>
            </a:extLst>
          </p:cNvPr>
          <p:cNvSpPr txBox="1"/>
          <p:nvPr/>
        </p:nvSpPr>
        <p:spPr>
          <a:xfrm>
            <a:off x="5718043" y="30337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5-Point Star 6">
            <a:extLst>
              <a:ext uri="{FF2B5EF4-FFF2-40B4-BE49-F238E27FC236}">
                <a16:creationId xmlns:a16="http://schemas.microsoft.com/office/drawing/2014/main" id="{4231B102-2B83-CD10-50E0-422FA9587C94}"/>
              </a:ext>
            </a:extLst>
          </p:cNvPr>
          <p:cNvSpPr/>
          <p:nvPr/>
        </p:nvSpPr>
        <p:spPr>
          <a:xfrm>
            <a:off x="6310301" y="4329456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0A2062-D91F-1C74-774D-F65C0AA622B6}"/>
              </a:ext>
            </a:extLst>
          </p:cNvPr>
          <p:cNvSpPr txBox="1"/>
          <p:nvPr/>
        </p:nvSpPr>
        <p:spPr>
          <a:xfrm>
            <a:off x="6029567" y="43692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" name="5-Point Star 8">
            <a:extLst>
              <a:ext uri="{FF2B5EF4-FFF2-40B4-BE49-F238E27FC236}">
                <a16:creationId xmlns:a16="http://schemas.microsoft.com/office/drawing/2014/main" id="{6DC9F336-F779-4D66-58D3-0C04E94A904F}"/>
              </a:ext>
            </a:extLst>
          </p:cNvPr>
          <p:cNvSpPr/>
          <p:nvPr/>
        </p:nvSpPr>
        <p:spPr>
          <a:xfrm>
            <a:off x="4921938" y="4916661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C30520-D6FF-735F-5BC7-C37EC3973F78}"/>
              </a:ext>
            </a:extLst>
          </p:cNvPr>
          <p:cNvSpPr txBox="1"/>
          <p:nvPr/>
        </p:nvSpPr>
        <p:spPr>
          <a:xfrm>
            <a:off x="5010198" y="45728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57361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9C02-DD97-12E6-A430-73E1AF06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8EDC8-CB33-C8AA-9DB8-9C2B5EB78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5: repeat steps 2 through 4 until cluster assignments no longer change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50ECF0-1CAA-3330-0510-7E924D2B0931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8D5C20-1EAF-E38C-B4F5-912CD3C6E1B2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142E70-F015-9A51-3A89-00B3CB2C59E9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66D826-13D8-C04A-E85B-F50F8BB242C5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BE7BAC6-83EF-2DA5-52B7-5611C5F424D8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9DE82C-4192-59D8-482E-78AC22B71AD9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A525F3-B3F1-A0C6-09D2-AD16B45C349B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A5D54A-4078-968F-C59E-7FE41E904EB2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89EDEE-8296-2961-264F-531CAD9E2308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612347E-995C-84A0-36F2-CBEF00B3503E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3BAE3A2-F68A-72D7-EAB7-673D99A96718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7E20E2-8BFE-3402-531F-78567D65925E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07AEC7-2E25-44EB-198C-51286486E8EA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9EB3A4EF-82DF-3BCC-E6D4-7791F8BB0771}"/>
              </a:ext>
            </a:extLst>
          </p:cNvPr>
          <p:cNvSpPr/>
          <p:nvPr/>
        </p:nvSpPr>
        <p:spPr>
          <a:xfrm>
            <a:off x="5686888" y="3341632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AD7A2-9B67-7C26-0478-27BFE10ECC7A}"/>
              </a:ext>
            </a:extLst>
          </p:cNvPr>
          <p:cNvSpPr txBox="1"/>
          <p:nvPr/>
        </p:nvSpPr>
        <p:spPr>
          <a:xfrm>
            <a:off x="5718043" y="30337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5-Point Star 6">
            <a:extLst>
              <a:ext uri="{FF2B5EF4-FFF2-40B4-BE49-F238E27FC236}">
                <a16:creationId xmlns:a16="http://schemas.microsoft.com/office/drawing/2014/main" id="{4231B102-2B83-CD10-50E0-422FA9587C94}"/>
              </a:ext>
            </a:extLst>
          </p:cNvPr>
          <p:cNvSpPr/>
          <p:nvPr/>
        </p:nvSpPr>
        <p:spPr>
          <a:xfrm>
            <a:off x="6310301" y="4329456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0A2062-D91F-1C74-774D-F65C0AA622B6}"/>
              </a:ext>
            </a:extLst>
          </p:cNvPr>
          <p:cNvSpPr txBox="1"/>
          <p:nvPr/>
        </p:nvSpPr>
        <p:spPr>
          <a:xfrm>
            <a:off x="6029567" y="43692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" name="5-Point Star 8">
            <a:extLst>
              <a:ext uri="{FF2B5EF4-FFF2-40B4-BE49-F238E27FC236}">
                <a16:creationId xmlns:a16="http://schemas.microsoft.com/office/drawing/2014/main" id="{6DC9F336-F779-4D66-58D3-0C04E94A904F}"/>
              </a:ext>
            </a:extLst>
          </p:cNvPr>
          <p:cNvSpPr/>
          <p:nvPr/>
        </p:nvSpPr>
        <p:spPr>
          <a:xfrm>
            <a:off x="4921938" y="4916661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C30520-D6FF-735F-5BC7-C37EC3973F78}"/>
              </a:ext>
            </a:extLst>
          </p:cNvPr>
          <p:cNvSpPr txBox="1"/>
          <p:nvPr/>
        </p:nvSpPr>
        <p:spPr>
          <a:xfrm>
            <a:off x="5010198" y="45728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5499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39C02-DD97-12E6-A430-73E1AF065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clustering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8EDC8-CB33-C8AA-9DB8-9C2B5EB78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Step 5: repeat steps 2 through 4 until cluster assignments no longer change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50ECF0-1CAA-3330-0510-7E924D2B0931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8D5C20-1EAF-E38C-B4F5-912CD3C6E1B2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B142E70-F015-9A51-3A89-00B3CB2C59E9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66D826-13D8-C04A-E85B-F50F8BB242C5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BE7BAC6-83EF-2DA5-52B7-5611C5F424D8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9DE82C-4192-59D8-482E-78AC22B71AD9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A525F3-B3F1-A0C6-09D2-AD16B45C349B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AA5D54A-4078-968F-C59E-7FE41E904EB2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889EDEE-8296-2961-264F-531CAD9E2308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612347E-995C-84A0-36F2-CBEF00B3503E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3BAE3A2-F68A-72D7-EAB7-673D99A96718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7E20E2-8BFE-3402-531F-78567D65925E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07AEC7-2E25-44EB-198C-51286486E8EA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5-Point Star 3">
            <a:extLst>
              <a:ext uri="{FF2B5EF4-FFF2-40B4-BE49-F238E27FC236}">
                <a16:creationId xmlns:a16="http://schemas.microsoft.com/office/drawing/2014/main" id="{9EB3A4EF-82DF-3BCC-E6D4-7791F8BB0771}"/>
              </a:ext>
            </a:extLst>
          </p:cNvPr>
          <p:cNvSpPr/>
          <p:nvPr/>
        </p:nvSpPr>
        <p:spPr>
          <a:xfrm>
            <a:off x="5635976" y="3475779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7AD7A2-9B67-7C26-0478-27BFE10ECC7A}"/>
              </a:ext>
            </a:extLst>
          </p:cNvPr>
          <p:cNvSpPr txBox="1"/>
          <p:nvPr/>
        </p:nvSpPr>
        <p:spPr>
          <a:xfrm>
            <a:off x="5908614" y="32540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5-Point Star 6">
            <a:extLst>
              <a:ext uri="{FF2B5EF4-FFF2-40B4-BE49-F238E27FC236}">
                <a16:creationId xmlns:a16="http://schemas.microsoft.com/office/drawing/2014/main" id="{4231B102-2B83-CD10-50E0-422FA9587C94}"/>
              </a:ext>
            </a:extLst>
          </p:cNvPr>
          <p:cNvSpPr/>
          <p:nvPr/>
        </p:nvSpPr>
        <p:spPr>
          <a:xfrm>
            <a:off x="6644478" y="4562634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0A2062-D91F-1C74-774D-F65C0AA622B6}"/>
              </a:ext>
            </a:extLst>
          </p:cNvPr>
          <p:cNvSpPr txBox="1"/>
          <p:nvPr/>
        </p:nvSpPr>
        <p:spPr>
          <a:xfrm>
            <a:off x="6934539" y="43672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9" name="5-Point Star 8">
            <a:extLst>
              <a:ext uri="{FF2B5EF4-FFF2-40B4-BE49-F238E27FC236}">
                <a16:creationId xmlns:a16="http://schemas.microsoft.com/office/drawing/2014/main" id="{6DC9F336-F779-4D66-58D3-0C04E94A904F}"/>
              </a:ext>
            </a:extLst>
          </p:cNvPr>
          <p:cNvSpPr/>
          <p:nvPr/>
        </p:nvSpPr>
        <p:spPr>
          <a:xfrm>
            <a:off x="4921938" y="4916661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C30520-D6FF-735F-5BC7-C37EC3973F78}"/>
              </a:ext>
            </a:extLst>
          </p:cNvPr>
          <p:cNvSpPr txBox="1"/>
          <p:nvPr/>
        </p:nvSpPr>
        <p:spPr>
          <a:xfrm>
            <a:off x="5010198" y="45728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487809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2E2B-5891-D370-FA94-EDDF2AD2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pick an appropriate 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7D90A-C8B4-D23A-AD96-D0ECB2BBAEF1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B5CDD-07D5-57CB-E51F-334B89074DB4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A5D8DC-F74B-9C15-1098-BC83B06A000C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DBBF267-49F9-A8CA-DD79-E04210852615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C31119-BD29-CFCB-C492-FE62779D02A4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04E050-9388-B533-63DF-BD539290B97D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9505BD-5A49-0A7A-D51A-6493ED266EB7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9F645F-5C45-4D6F-8915-328ACCA3EB7B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59A0B8-3397-392C-717C-44443749C7F0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A20A4B-C23D-610D-D64B-14CE849858D2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33D8B1-306D-4A2E-BAD4-FDD10127934D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65FBA2-B9B7-85D9-19C2-EDE4B1AAEA8E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9C33CB-8B9A-C79C-A6DB-1819CDBAF6C1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BA7934D-3E54-49E1-894C-D494A8687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I had picked k = 2?</a:t>
            </a:r>
          </a:p>
        </p:txBody>
      </p:sp>
    </p:spTree>
    <p:extLst>
      <p:ext uri="{BB962C8B-B14F-4D97-AF65-F5344CB8AC3E}">
        <p14:creationId xmlns:p14="http://schemas.microsoft.com/office/powerpoint/2010/main" val="1487632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2E2B-5891-D370-FA94-EDDF2AD2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pick an appropriate 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7D90A-C8B4-D23A-AD96-D0ECB2BBAEF1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B5CDD-07D5-57CB-E51F-334B89074DB4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A5D8DC-F74B-9C15-1098-BC83B06A000C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DBBF267-49F9-A8CA-DD79-E04210852615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C31119-BD29-CFCB-C492-FE62779D02A4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04E050-9388-B533-63DF-BD539290B97D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9505BD-5A49-0A7A-D51A-6493ED266EB7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9F645F-5C45-4D6F-8915-328ACCA3EB7B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59A0B8-3397-392C-717C-44443749C7F0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A20A4B-C23D-610D-D64B-14CE849858D2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33D8B1-306D-4A2E-BAD4-FDD10127934D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65FBA2-B9B7-85D9-19C2-EDE4B1AAEA8E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9C33CB-8B9A-C79C-A6DB-1819CDBAF6C1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BA7934D-3E54-49E1-894C-D494A8687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I had picked k = 2?</a:t>
            </a: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E76D9D21-F5A5-FCEC-1EE6-300A5837D096}"/>
              </a:ext>
            </a:extLst>
          </p:cNvPr>
          <p:cNvSpPr/>
          <p:nvPr/>
        </p:nvSpPr>
        <p:spPr>
          <a:xfrm>
            <a:off x="5973694" y="2817366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03280C-A7A4-6750-0294-3D440E97B8B8}"/>
              </a:ext>
            </a:extLst>
          </p:cNvPr>
          <p:cNvSpPr txBox="1"/>
          <p:nvPr/>
        </p:nvSpPr>
        <p:spPr>
          <a:xfrm>
            <a:off x="6246332" y="25956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5-Point Star 17">
            <a:extLst>
              <a:ext uri="{FF2B5EF4-FFF2-40B4-BE49-F238E27FC236}">
                <a16:creationId xmlns:a16="http://schemas.microsoft.com/office/drawing/2014/main" id="{44F45CF0-E0A0-07B1-F595-992E377C3ADB}"/>
              </a:ext>
            </a:extLst>
          </p:cNvPr>
          <p:cNvSpPr/>
          <p:nvPr/>
        </p:nvSpPr>
        <p:spPr>
          <a:xfrm>
            <a:off x="5847669" y="4686891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AD93B8-D436-0131-9419-3DFDB8A52850}"/>
              </a:ext>
            </a:extLst>
          </p:cNvPr>
          <p:cNvSpPr txBox="1"/>
          <p:nvPr/>
        </p:nvSpPr>
        <p:spPr>
          <a:xfrm>
            <a:off x="6137730" y="44915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34888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2E2B-5891-D370-FA94-EDDF2AD2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pick an appropriate 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7D90A-C8B4-D23A-AD96-D0ECB2BBAEF1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B5CDD-07D5-57CB-E51F-334B89074DB4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A5D8DC-F74B-9C15-1098-BC83B06A000C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DBBF267-49F9-A8CA-DD79-E04210852615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C31119-BD29-CFCB-C492-FE62779D02A4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04E050-9388-B533-63DF-BD539290B97D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9505BD-5A49-0A7A-D51A-6493ED266EB7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9F645F-5C45-4D6F-8915-328ACCA3EB7B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59A0B8-3397-392C-717C-44443749C7F0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A20A4B-C23D-610D-D64B-14CE849858D2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33D8B1-306D-4A2E-BAD4-FDD10127934D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65FBA2-B9B7-85D9-19C2-EDE4B1AAEA8E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9C33CB-8B9A-C79C-A6DB-1819CDBAF6C1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BA7934D-3E54-49E1-894C-D494A8687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I had picked k = 2?</a:t>
            </a: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E76D9D21-F5A5-FCEC-1EE6-300A5837D096}"/>
              </a:ext>
            </a:extLst>
          </p:cNvPr>
          <p:cNvSpPr/>
          <p:nvPr/>
        </p:nvSpPr>
        <p:spPr>
          <a:xfrm>
            <a:off x="5973694" y="2817366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03280C-A7A4-6750-0294-3D440E97B8B8}"/>
              </a:ext>
            </a:extLst>
          </p:cNvPr>
          <p:cNvSpPr txBox="1"/>
          <p:nvPr/>
        </p:nvSpPr>
        <p:spPr>
          <a:xfrm>
            <a:off x="6246332" y="259562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5-Point Star 17">
            <a:extLst>
              <a:ext uri="{FF2B5EF4-FFF2-40B4-BE49-F238E27FC236}">
                <a16:creationId xmlns:a16="http://schemas.microsoft.com/office/drawing/2014/main" id="{44F45CF0-E0A0-07B1-F595-992E377C3ADB}"/>
              </a:ext>
            </a:extLst>
          </p:cNvPr>
          <p:cNvSpPr/>
          <p:nvPr/>
        </p:nvSpPr>
        <p:spPr>
          <a:xfrm>
            <a:off x="5847669" y="4686891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AD93B8-D436-0131-9419-3DFDB8A52850}"/>
              </a:ext>
            </a:extLst>
          </p:cNvPr>
          <p:cNvSpPr txBox="1"/>
          <p:nvPr/>
        </p:nvSpPr>
        <p:spPr>
          <a:xfrm>
            <a:off x="6137730" y="44915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062069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2E2B-5891-D370-FA94-EDDF2AD2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pick an appropriate 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7D90A-C8B4-D23A-AD96-D0ECB2BBAEF1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B5CDD-07D5-57CB-E51F-334B89074DB4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A5D8DC-F74B-9C15-1098-BC83B06A000C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DBBF267-49F9-A8CA-DD79-E04210852615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C31119-BD29-CFCB-C492-FE62779D02A4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04E050-9388-B533-63DF-BD539290B97D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9505BD-5A49-0A7A-D51A-6493ED266EB7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9F645F-5C45-4D6F-8915-328ACCA3EB7B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59A0B8-3397-392C-717C-44443749C7F0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A20A4B-C23D-610D-D64B-14CE849858D2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33D8B1-306D-4A2E-BAD4-FDD10127934D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65FBA2-B9B7-85D9-19C2-EDE4B1AAEA8E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9C33CB-8B9A-C79C-A6DB-1819CDBAF6C1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BA7934D-3E54-49E1-894C-D494A8687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I had picked k = 2?</a:t>
            </a: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E76D9D21-F5A5-FCEC-1EE6-300A5837D096}"/>
              </a:ext>
            </a:extLst>
          </p:cNvPr>
          <p:cNvSpPr/>
          <p:nvPr/>
        </p:nvSpPr>
        <p:spPr>
          <a:xfrm>
            <a:off x="5684673" y="3461288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03280C-A7A4-6750-0294-3D440E97B8B8}"/>
              </a:ext>
            </a:extLst>
          </p:cNvPr>
          <p:cNvSpPr txBox="1"/>
          <p:nvPr/>
        </p:nvSpPr>
        <p:spPr>
          <a:xfrm>
            <a:off x="5957311" y="3239543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5-Point Star 17">
            <a:extLst>
              <a:ext uri="{FF2B5EF4-FFF2-40B4-BE49-F238E27FC236}">
                <a16:creationId xmlns:a16="http://schemas.microsoft.com/office/drawing/2014/main" id="{44F45CF0-E0A0-07B1-F595-992E377C3ADB}"/>
              </a:ext>
            </a:extLst>
          </p:cNvPr>
          <p:cNvSpPr/>
          <p:nvPr/>
        </p:nvSpPr>
        <p:spPr>
          <a:xfrm>
            <a:off x="5847669" y="4754624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AD93B8-D436-0131-9419-3DFDB8A52850}"/>
              </a:ext>
            </a:extLst>
          </p:cNvPr>
          <p:cNvSpPr txBox="1"/>
          <p:nvPr/>
        </p:nvSpPr>
        <p:spPr>
          <a:xfrm>
            <a:off x="6137730" y="45592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13315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5959A-B137-10D2-296F-BDAB79EA9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pick an appropriate 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8181F6-4BA0-210E-A989-8646647BE951}"/>
              </a:ext>
            </a:extLst>
          </p:cNvPr>
          <p:cNvSpPr txBox="1"/>
          <p:nvPr/>
        </p:nvSpPr>
        <p:spPr>
          <a:xfrm>
            <a:off x="8136413" y="6077677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73BECA-E38C-4DC0-19DD-D5803A870DC2}"/>
              </a:ext>
            </a:extLst>
          </p:cNvPr>
          <p:cNvSpPr txBox="1"/>
          <p:nvPr/>
        </p:nvSpPr>
        <p:spPr>
          <a:xfrm rot="16200000">
            <a:off x="6446770" y="4333391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5CF690-B630-01AB-E9BF-7088B66462B3}"/>
              </a:ext>
            </a:extLst>
          </p:cNvPr>
          <p:cNvCxnSpPr/>
          <p:nvPr/>
        </p:nvCxnSpPr>
        <p:spPr>
          <a:xfrm flipV="1">
            <a:off x="7062002" y="3134971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D070706-B1B6-3C98-307E-D4A71DA09AB9}"/>
              </a:ext>
            </a:extLst>
          </p:cNvPr>
          <p:cNvCxnSpPr>
            <a:cxnSpLocks/>
          </p:cNvCxnSpPr>
          <p:nvPr/>
        </p:nvCxnSpPr>
        <p:spPr>
          <a:xfrm>
            <a:off x="7062002" y="6077677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C19D9997-6194-0325-A08F-F29BB7F0480F}"/>
              </a:ext>
            </a:extLst>
          </p:cNvPr>
          <p:cNvSpPr/>
          <p:nvPr/>
        </p:nvSpPr>
        <p:spPr>
          <a:xfrm>
            <a:off x="7261507" y="5111814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1172676-8694-F001-06B6-913A17FF9F4D}"/>
              </a:ext>
            </a:extLst>
          </p:cNvPr>
          <p:cNvSpPr/>
          <p:nvPr/>
        </p:nvSpPr>
        <p:spPr>
          <a:xfrm>
            <a:off x="7449579" y="5558717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AE0CBF4-BE34-3778-8B53-BAC0FA0839E0}"/>
              </a:ext>
            </a:extLst>
          </p:cNvPr>
          <p:cNvSpPr/>
          <p:nvPr/>
        </p:nvSpPr>
        <p:spPr>
          <a:xfrm>
            <a:off x="7809096" y="5213893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00FF00"/>
              </a:highlight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A5CCB43-30D1-78B1-FDB8-4FBDEE0EC538}"/>
              </a:ext>
            </a:extLst>
          </p:cNvPr>
          <p:cNvSpPr/>
          <p:nvPr/>
        </p:nvSpPr>
        <p:spPr>
          <a:xfrm>
            <a:off x="7969877" y="3653992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2455CED-5C08-7391-C0CA-79DF9E0C020B}"/>
              </a:ext>
            </a:extLst>
          </p:cNvPr>
          <p:cNvSpPr/>
          <p:nvPr/>
        </p:nvSpPr>
        <p:spPr>
          <a:xfrm>
            <a:off x="8157949" y="4100895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27FA7A8-F9BD-6128-661C-B735F3C8C97E}"/>
              </a:ext>
            </a:extLst>
          </p:cNvPr>
          <p:cNvSpPr/>
          <p:nvPr/>
        </p:nvSpPr>
        <p:spPr>
          <a:xfrm>
            <a:off x="8517466" y="3756071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F5A771-1570-86ED-6510-3EC23F74EBB3}"/>
              </a:ext>
            </a:extLst>
          </p:cNvPr>
          <p:cNvSpPr/>
          <p:nvPr/>
        </p:nvSpPr>
        <p:spPr>
          <a:xfrm>
            <a:off x="8964735" y="4767897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D37B686-69B1-8063-D9B3-B9509EE6A881}"/>
              </a:ext>
            </a:extLst>
          </p:cNvPr>
          <p:cNvSpPr/>
          <p:nvPr/>
        </p:nvSpPr>
        <p:spPr>
          <a:xfrm>
            <a:off x="9152807" y="521480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437F92F-E943-A9AF-4482-35B7C1C405CE}"/>
              </a:ext>
            </a:extLst>
          </p:cNvPr>
          <p:cNvSpPr/>
          <p:nvPr/>
        </p:nvSpPr>
        <p:spPr>
          <a:xfrm>
            <a:off x="9512324" y="4869976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5-Point Star 16">
            <a:extLst>
              <a:ext uri="{FF2B5EF4-FFF2-40B4-BE49-F238E27FC236}">
                <a16:creationId xmlns:a16="http://schemas.microsoft.com/office/drawing/2014/main" id="{8422609C-BF5B-68E5-4695-EA62E9A3947D}"/>
              </a:ext>
            </a:extLst>
          </p:cNvPr>
          <p:cNvSpPr/>
          <p:nvPr/>
        </p:nvSpPr>
        <p:spPr>
          <a:xfrm>
            <a:off x="8057442" y="3665236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9A640F7-B204-6AC3-7A23-D1786997E8D9}"/>
              </a:ext>
            </a:extLst>
          </p:cNvPr>
          <p:cNvSpPr txBox="1"/>
          <p:nvPr/>
        </p:nvSpPr>
        <p:spPr>
          <a:xfrm>
            <a:off x="8330080" y="34434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9" name="5-Point Star 18">
            <a:extLst>
              <a:ext uri="{FF2B5EF4-FFF2-40B4-BE49-F238E27FC236}">
                <a16:creationId xmlns:a16="http://schemas.microsoft.com/office/drawing/2014/main" id="{250B90FE-0C8B-F4AF-39A8-A074739D9A79}"/>
              </a:ext>
            </a:extLst>
          </p:cNvPr>
          <p:cNvSpPr/>
          <p:nvPr/>
        </p:nvSpPr>
        <p:spPr>
          <a:xfrm>
            <a:off x="9065944" y="4752091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48B895-B870-92DC-A3C3-084BA660A8A2}"/>
              </a:ext>
            </a:extLst>
          </p:cNvPr>
          <p:cNvSpPr txBox="1"/>
          <p:nvPr/>
        </p:nvSpPr>
        <p:spPr>
          <a:xfrm>
            <a:off x="9356005" y="45567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5-Point Star 20">
            <a:extLst>
              <a:ext uri="{FF2B5EF4-FFF2-40B4-BE49-F238E27FC236}">
                <a16:creationId xmlns:a16="http://schemas.microsoft.com/office/drawing/2014/main" id="{61437B02-5D78-5293-3166-D240D573DBFA}"/>
              </a:ext>
            </a:extLst>
          </p:cNvPr>
          <p:cNvSpPr/>
          <p:nvPr/>
        </p:nvSpPr>
        <p:spPr>
          <a:xfrm>
            <a:off x="7343404" y="5106118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A7119D-9C75-4D39-1AB3-67EC68B34DE4}"/>
              </a:ext>
            </a:extLst>
          </p:cNvPr>
          <p:cNvSpPr txBox="1"/>
          <p:nvPr/>
        </p:nvSpPr>
        <p:spPr>
          <a:xfrm>
            <a:off x="7431664" y="47623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1AB53E-0628-8155-AA27-F7413797DE32}"/>
              </a:ext>
            </a:extLst>
          </p:cNvPr>
          <p:cNvSpPr txBox="1"/>
          <p:nvPr/>
        </p:nvSpPr>
        <p:spPr>
          <a:xfrm>
            <a:off x="3262161" y="6077677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48A4AB-822C-0420-43FB-7D6375B3B1A4}"/>
              </a:ext>
            </a:extLst>
          </p:cNvPr>
          <p:cNvSpPr txBox="1"/>
          <p:nvPr/>
        </p:nvSpPr>
        <p:spPr>
          <a:xfrm rot="16200000">
            <a:off x="1572518" y="4333391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84A501A-04C5-587B-C5D5-02AC72A08656}"/>
              </a:ext>
            </a:extLst>
          </p:cNvPr>
          <p:cNvCxnSpPr>
            <a:cxnSpLocks/>
          </p:cNvCxnSpPr>
          <p:nvPr/>
        </p:nvCxnSpPr>
        <p:spPr>
          <a:xfrm>
            <a:off x="2187750" y="6077677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9D1B1747-2718-7914-98E3-4D88850EC2BB}"/>
              </a:ext>
            </a:extLst>
          </p:cNvPr>
          <p:cNvSpPr/>
          <p:nvPr/>
        </p:nvSpPr>
        <p:spPr>
          <a:xfrm>
            <a:off x="2387255" y="5111814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18014D6-CF1F-CBDC-E3F1-10EEA1E13C1C}"/>
              </a:ext>
            </a:extLst>
          </p:cNvPr>
          <p:cNvSpPr/>
          <p:nvPr/>
        </p:nvSpPr>
        <p:spPr>
          <a:xfrm>
            <a:off x="2575327" y="5558717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0A65F7E-DD21-F922-42C5-38F6770ECE68}"/>
              </a:ext>
            </a:extLst>
          </p:cNvPr>
          <p:cNvSpPr/>
          <p:nvPr/>
        </p:nvSpPr>
        <p:spPr>
          <a:xfrm>
            <a:off x="2934844" y="5213893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5654CAD-8861-64D0-E4C5-6E62209738DC}"/>
              </a:ext>
            </a:extLst>
          </p:cNvPr>
          <p:cNvSpPr/>
          <p:nvPr/>
        </p:nvSpPr>
        <p:spPr>
          <a:xfrm>
            <a:off x="3095625" y="3653992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59A649A-0F52-5628-67F7-B92CE91A8066}"/>
              </a:ext>
            </a:extLst>
          </p:cNvPr>
          <p:cNvSpPr/>
          <p:nvPr/>
        </p:nvSpPr>
        <p:spPr>
          <a:xfrm>
            <a:off x="3283697" y="4100895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BF0F947-C3C8-135C-C5D2-8423F25B833B}"/>
              </a:ext>
            </a:extLst>
          </p:cNvPr>
          <p:cNvSpPr/>
          <p:nvPr/>
        </p:nvSpPr>
        <p:spPr>
          <a:xfrm>
            <a:off x="3643214" y="3756071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F549B94-801B-FB5C-F7D6-F927E1AFDD26}"/>
              </a:ext>
            </a:extLst>
          </p:cNvPr>
          <p:cNvSpPr/>
          <p:nvPr/>
        </p:nvSpPr>
        <p:spPr>
          <a:xfrm>
            <a:off x="4090483" y="4767897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A567268-D3C8-31B0-2C09-BB3DB944DCD6}"/>
              </a:ext>
            </a:extLst>
          </p:cNvPr>
          <p:cNvSpPr/>
          <p:nvPr/>
        </p:nvSpPr>
        <p:spPr>
          <a:xfrm>
            <a:off x="4278555" y="521480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79F583B-CB8E-FB69-FCE4-2AD555FD1BBE}"/>
              </a:ext>
            </a:extLst>
          </p:cNvPr>
          <p:cNvSpPr/>
          <p:nvPr/>
        </p:nvSpPr>
        <p:spPr>
          <a:xfrm>
            <a:off x="4638072" y="4869976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C720723-F93F-89E8-CD9B-B97108700D1A}"/>
              </a:ext>
            </a:extLst>
          </p:cNvPr>
          <p:cNvCxnSpPr/>
          <p:nvPr/>
        </p:nvCxnSpPr>
        <p:spPr>
          <a:xfrm flipV="1">
            <a:off x="2187750" y="3134971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5-Point Star 35">
            <a:extLst>
              <a:ext uri="{FF2B5EF4-FFF2-40B4-BE49-F238E27FC236}">
                <a16:creationId xmlns:a16="http://schemas.microsoft.com/office/drawing/2014/main" id="{8E7AA9E6-6631-AFCA-80A1-16FA56891C19}"/>
              </a:ext>
            </a:extLst>
          </p:cNvPr>
          <p:cNvSpPr/>
          <p:nvPr/>
        </p:nvSpPr>
        <p:spPr>
          <a:xfrm>
            <a:off x="3231887" y="3650745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42C02D2-3A93-81AD-0EBA-6ED95F3A97C1}"/>
              </a:ext>
            </a:extLst>
          </p:cNvPr>
          <p:cNvSpPr txBox="1"/>
          <p:nvPr/>
        </p:nvSpPr>
        <p:spPr>
          <a:xfrm>
            <a:off x="3504525" y="3429000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8" name="5-Point Star 37">
            <a:extLst>
              <a:ext uri="{FF2B5EF4-FFF2-40B4-BE49-F238E27FC236}">
                <a16:creationId xmlns:a16="http://schemas.microsoft.com/office/drawing/2014/main" id="{A457293F-001D-0B63-1681-66B16C01D195}"/>
              </a:ext>
            </a:extLst>
          </p:cNvPr>
          <p:cNvSpPr/>
          <p:nvPr/>
        </p:nvSpPr>
        <p:spPr>
          <a:xfrm>
            <a:off x="3394883" y="4944081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95D8DCB-9223-178E-FCAD-69E5F99772AB}"/>
              </a:ext>
            </a:extLst>
          </p:cNvPr>
          <p:cNvSpPr txBox="1"/>
          <p:nvPr/>
        </p:nvSpPr>
        <p:spPr>
          <a:xfrm>
            <a:off x="3684944" y="47487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98F9B3-AA3E-DB73-F3F7-98367A56A5BA}"/>
              </a:ext>
            </a:extLst>
          </p:cNvPr>
          <p:cNvSpPr txBox="1"/>
          <p:nvPr/>
        </p:nvSpPr>
        <p:spPr>
          <a:xfrm>
            <a:off x="878162" y="1572630"/>
            <a:ext cx="80865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How does the within cluster sum of squares compare?</a:t>
            </a:r>
          </a:p>
        </p:txBody>
      </p:sp>
      <p:pic>
        <p:nvPicPr>
          <p:cNvPr id="41" name="Picture 40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574E510A-8397-F3C3-1FFF-95E812BB8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450" y="2088241"/>
            <a:ext cx="4990757" cy="87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762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2E2B-5891-D370-FA94-EDDF2AD2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pick an appropriate 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7D90A-C8B4-D23A-AD96-D0ECB2BBAEF1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B5CDD-07D5-57CB-E51F-334B89074DB4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A5D8DC-F74B-9C15-1098-BC83B06A000C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DBBF267-49F9-A8CA-DD79-E04210852615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C31119-BD29-CFCB-C492-FE62779D02A4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04E050-9388-B533-63DF-BD539290B97D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9505BD-5A49-0A7A-D51A-6493ED266EB7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9F645F-5C45-4D6F-8915-328ACCA3EB7B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59A0B8-3397-392C-717C-44443749C7F0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A20A4B-C23D-610D-D64B-14CE849858D2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33D8B1-306D-4A2E-BAD4-FDD10127934D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65FBA2-B9B7-85D9-19C2-EDE4B1AAEA8E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9C33CB-8B9A-C79C-A6DB-1819CDBAF6C1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BA7934D-3E54-49E1-894C-D494A8687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I had picked k = 4?</a:t>
            </a:r>
          </a:p>
        </p:txBody>
      </p:sp>
    </p:spTree>
    <p:extLst>
      <p:ext uri="{BB962C8B-B14F-4D97-AF65-F5344CB8AC3E}">
        <p14:creationId xmlns:p14="http://schemas.microsoft.com/office/powerpoint/2010/main" val="2402686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2E2B-5891-D370-FA94-EDDF2AD2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pick an appropriate 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7D90A-C8B4-D23A-AD96-D0ECB2BBAEF1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B5CDD-07D5-57CB-E51F-334B89074DB4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A5D8DC-F74B-9C15-1098-BC83B06A000C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DBBF267-49F9-A8CA-DD79-E04210852615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C31119-BD29-CFCB-C492-FE62779D02A4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04E050-9388-B533-63DF-BD539290B97D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9505BD-5A49-0A7A-D51A-6493ED266EB7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9F645F-5C45-4D6F-8915-328ACCA3EB7B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59A0B8-3397-392C-717C-44443749C7F0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A20A4B-C23D-610D-D64B-14CE849858D2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33D8B1-306D-4A2E-BAD4-FDD10127934D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65FBA2-B9B7-85D9-19C2-EDE4B1AAEA8E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9C33CB-8B9A-C79C-A6DB-1819CDBAF6C1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BA7934D-3E54-49E1-894C-D494A8687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I had picked k = 4?</a:t>
            </a: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E76D9D21-F5A5-FCEC-1EE6-300A5837D096}"/>
              </a:ext>
            </a:extLst>
          </p:cNvPr>
          <p:cNvSpPr/>
          <p:nvPr/>
        </p:nvSpPr>
        <p:spPr>
          <a:xfrm>
            <a:off x="5327371" y="3021510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03280C-A7A4-6750-0294-3D440E97B8B8}"/>
              </a:ext>
            </a:extLst>
          </p:cNvPr>
          <p:cNvSpPr txBox="1"/>
          <p:nvPr/>
        </p:nvSpPr>
        <p:spPr>
          <a:xfrm>
            <a:off x="5600009" y="2799765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5-Point Star 17">
            <a:extLst>
              <a:ext uri="{FF2B5EF4-FFF2-40B4-BE49-F238E27FC236}">
                <a16:creationId xmlns:a16="http://schemas.microsoft.com/office/drawing/2014/main" id="{44F45CF0-E0A0-07B1-F595-992E377C3ADB}"/>
              </a:ext>
            </a:extLst>
          </p:cNvPr>
          <p:cNvSpPr/>
          <p:nvPr/>
        </p:nvSpPr>
        <p:spPr>
          <a:xfrm>
            <a:off x="4936512" y="4633394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AD93B8-D436-0131-9419-3DFDB8A52850}"/>
              </a:ext>
            </a:extLst>
          </p:cNvPr>
          <p:cNvSpPr txBox="1"/>
          <p:nvPr/>
        </p:nvSpPr>
        <p:spPr>
          <a:xfrm>
            <a:off x="5226573" y="44380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5-Point Star 20">
            <a:extLst>
              <a:ext uri="{FF2B5EF4-FFF2-40B4-BE49-F238E27FC236}">
                <a16:creationId xmlns:a16="http://schemas.microsoft.com/office/drawing/2014/main" id="{02AF4B96-78E6-B347-796D-63BC46AEE7BA}"/>
              </a:ext>
            </a:extLst>
          </p:cNvPr>
          <p:cNvSpPr/>
          <p:nvPr/>
        </p:nvSpPr>
        <p:spPr>
          <a:xfrm>
            <a:off x="6236857" y="4226726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2881AB-36F1-E234-CD57-98A21319AD22}"/>
              </a:ext>
            </a:extLst>
          </p:cNvPr>
          <p:cNvSpPr txBox="1"/>
          <p:nvPr/>
        </p:nvSpPr>
        <p:spPr>
          <a:xfrm>
            <a:off x="6526918" y="40313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3" name="5-Point Star 22">
            <a:extLst>
              <a:ext uri="{FF2B5EF4-FFF2-40B4-BE49-F238E27FC236}">
                <a16:creationId xmlns:a16="http://schemas.microsoft.com/office/drawing/2014/main" id="{DD6DA088-2904-EDCC-B217-D3E837710C80}"/>
              </a:ext>
            </a:extLst>
          </p:cNvPr>
          <p:cNvSpPr/>
          <p:nvPr/>
        </p:nvSpPr>
        <p:spPr>
          <a:xfrm>
            <a:off x="7063796" y="4947820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AA7202-94E3-DDA1-B10D-2A8C69D6B11C}"/>
              </a:ext>
            </a:extLst>
          </p:cNvPr>
          <p:cNvSpPr txBox="1"/>
          <p:nvPr/>
        </p:nvSpPr>
        <p:spPr>
          <a:xfrm>
            <a:off x="7353857" y="47524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87387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2E2B-5891-D370-FA94-EDDF2AD2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pick an appropriate 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7D90A-C8B4-D23A-AD96-D0ECB2BBAEF1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B5CDD-07D5-57CB-E51F-334B89074DB4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A5D8DC-F74B-9C15-1098-BC83B06A000C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DBBF267-49F9-A8CA-DD79-E04210852615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C31119-BD29-CFCB-C492-FE62779D02A4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04E050-9388-B533-63DF-BD539290B97D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9505BD-5A49-0A7A-D51A-6493ED266EB7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9F645F-5C45-4D6F-8915-328ACCA3EB7B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59A0B8-3397-392C-717C-44443749C7F0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A20A4B-C23D-610D-D64B-14CE849858D2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33D8B1-306D-4A2E-BAD4-FDD10127934D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65FBA2-B9B7-85D9-19C2-EDE4B1AAEA8E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9C33CB-8B9A-C79C-A6DB-1819CDBAF6C1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BA7934D-3E54-49E1-894C-D494A8687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I had picked k = 4?</a:t>
            </a: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E76D9D21-F5A5-FCEC-1EE6-300A5837D096}"/>
              </a:ext>
            </a:extLst>
          </p:cNvPr>
          <p:cNvSpPr/>
          <p:nvPr/>
        </p:nvSpPr>
        <p:spPr>
          <a:xfrm>
            <a:off x="5327371" y="3021510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03280C-A7A4-6750-0294-3D440E97B8B8}"/>
              </a:ext>
            </a:extLst>
          </p:cNvPr>
          <p:cNvSpPr txBox="1"/>
          <p:nvPr/>
        </p:nvSpPr>
        <p:spPr>
          <a:xfrm>
            <a:off x="5600009" y="2799765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5-Point Star 17">
            <a:extLst>
              <a:ext uri="{FF2B5EF4-FFF2-40B4-BE49-F238E27FC236}">
                <a16:creationId xmlns:a16="http://schemas.microsoft.com/office/drawing/2014/main" id="{44F45CF0-E0A0-07B1-F595-992E377C3ADB}"/>
              </a:ext>
            </a:extLst>
          </p:cNvPr>
          <p:cNvSpPr/>
          <p:nvPr/>
        </p:nvSpPr>
        <p:spPr>
          <a:xfrm>
            <a:off x="4936512" y="4633394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AD93B8-D436-0131-9419-3DFDB8A52850}"/>
              </a:ext>
            </a:extLst>
          </p:cNvPr>
          <p:cNvSpPr txBox="1"/>
          <p:nvPr/>
        </p:nvSpPr>
        <p:spPr>
          <a:xfrm>
            <a:off x="5226573" y="44380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5-Point Star 20">
            <a:extLst>
              <a:ext uri="{FF2B5EF4-FFF2-40B4-BE49-F238E27FC236}">
                <a16:creationId xmlns:a16="http://schemas.microsoft.com/office/drawing/2014/main" id="{02AF4B96-78E6-B347-796D-63BC46AEE7BA}"/>
              </a:ext>
            </a:extLst>
          </p:cNvPr>
          <p:cNvSpPr/>
          <p:nvPr/>
        </p:nvSpPr>
        <p:spPr>
          <a:xfrm>
            <a:off x="6236857" y="4226726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2881AB-36F1-E234-CD57-98A21319AD22}"/>
              </a:ext>
            </a:extLst>
          </p:cNvPr>
          <p:cNvSpPr txBox="1"/>
          <p:nvPr/>
        </p:nvSpPr>
        <p:spPr>
          <a:xfrm>
            <a:off x="6526918" y="403136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3" name="5-Point Star 22">
            <a:extLst>
              <a:ext uri="{FF2B5EF4-FFF2-40B4-BE49-F238E27FC236}">
                <a16:creationId xmlns:a16="http://schemas.microsoft.com/office/drawing/2014/main" id="{DD6DA088-2904-EDCC-B217-D3E837710C80}"/>
              </a:ext>
            </a:extLst>
          </p:cNvPr>
          <p:cNvSpPr/>
          <p:nvPr/>
        </p:nvSpPr>
        <p:spPr>
          <a:xfrm>
            <a:off x="7063796" y="4947820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AA7202-94E3-DDA1-B10D-2A8C69D6B11C}"/>
              </a:ext>
            </a:extLst>
          </p:cNvPr>
          <p:cNvSpPr txBox="1"/>
          <p:nvPr/>
        </p:nvSpPr>
        <p:spPr>
          <a:xfrm>
            <a:off x="7353857" y="475245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75222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E2E2B-5891-D370-FA94-EDDF2AD2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pick an appropriate k?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7D90A-C8B4-D23A-AD96-D0ECB2BBAEF1}"/>
              </a:ext>
            </a:extLst>
          </p:cNvPr>
          <p:cNvSpPr txBox="1"/>
          <p:nvPr/>
        </p:nvSpPr>
        <p:spPr>
          <a:xfrm>
            <a:off x="5714947" y="5888220"/>
            <a:ext cx="869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B5CDD-07D5-57CB-E51F-334B89074DB4}"/>
              </a:ext>
            </a:extLst>
          </p:cNvPr>
          <p:cNvSpPr txBox="1"/>
          <p:nvPr/>
        </p:nvSpPr>
        <p:spPr>
          <a:xfrm rot="16200000">
            <a:off x="4025304" y="414393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A5D8DC-F74B-9C15-1098-BC83B06A000C}"/>
              </a:ext>
            </a:extLst>
          </p:cNvPr>
          <p:cNvCxnSpPr>
            <a:cxnSpLocks/>
          </p:cNvCxnSpPr>
          <p:nvPr/>
        </p:nvCxnSpPr>
        <p:spPr>
          <a:xfrm>
            <a:off x="4640536" y="5888220"/>
            <a:ext cx="30179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DBBF267-49F9-A8CA-DD79-E04210852615}"/>
              </a:ext>
            </a:extLst>
          </p:cNvPr>
          <p:cNvSpPr/>
          <p:nvPr/>
        </p:nvSpPr>
        <p:spPr>
          <a:xfrm>
            <a:off x="4840041" y="4922357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FC31119-BD29-CFCB-C492-FE62779D02A4}"/>
              </a:ext>
            </a:extLst>
          </p:cNvPr>
          <p:cNvSpPr/>
          <p:nvPr/>
        </p:nvSpPr>
        <p:spPr>
          <a:xfrm>
            <a:off x="5028113" y="5369260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A04E050-9388-B533-63DF-BD539290B97D}"/>
              </a:ext>
            </a:extLst>
          </p:cNvPr>
          <p:cNvSpPr/>
          <p:nvPr/>
        </p:nvSpPr>
        <p:spPr>
          <a:xfrm>
            <a:off x="5387630" y="5024436"/>
            <a:ext cx="299258" cy="29925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9505BD-5A49-0A7A-D51A-6493ED266EB7}"/>
              </a:ext>
            </a:extLst>
          </p:cNvPr>
          <p:cNvSpPr/>
          <p:nvPr/>
        </p:nvSpPr>
        <p:spPr>
          <a:xfrm>
            <a:off x="5548411" y="3464535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A9F645F-5C45-4D6F-8915-328ACCA3EB7B}"/>
              </a:ext>
            </a:extLst>
          </p:cNvPr>
          <p:cNvSpPr/>
          <p:nvPr/>
        </p:nvSpPr>
        <p:spPr>
          <a:xfrm>
            <a:off x="5736483" y="3911438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B59A0B8-3397-392C-717C-44443749C7F0}"/>
              </a:ext>
            </a:extLst>
          </p:cNvPr>
          <p:cNvSpPr/>
          <p:nvPr/>
        </p:nvSpPr>
        <p:spPr>
          <a:xfrm>
            <a:off x="6096000" y="3566614"/>
            <a:ext cx="299258" cy="29925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3A20A4B-C23D-610D-D64B-14CE849858D2}"/>
              </a:ext>
            </a:extLst>
          </p:cNvPr>
          <p:cNvSpPr/>
          <p:nvPr/>
        </p:nvSpPr>
        <p:spPr>
          <a:xfrm>
            <a:off x="6543269" y="4578440"/>
            <a:ext cx="299258" cy="299258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33D8B1-306D-4A2E-BAD4-FDD10127934D}"/>
              </a:ext>
            </a:extLst>
          </p:cNvPr>
          <p:cNvSpPr/>
          <p:nvPr/>
        </p:nvSpPr>
        <p:spPr>
          <a:xfrm>
            <a:off x="6731341" y="5025343"/>
            <a:ext cx="299258" cy="29925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65FBA2-B9B7-85D9-19C2-EDE4B1AAEA8E}"/>
              </a:ext>
            </a:extLst>
          </p:cNvPr>
          <p:cNvSpPr/>
          <p:nvPr/>
        </p:nvSpPr>
        <p:spPr>
          <a:xfrm>
            <a:off x="7090858" y="4680519"/>
            <a:ext cx="299258" cy="299258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69C33CB-8B9A-C79C-A6DB-1819CDBAF6C1}"/>
              </a:ext>
            </a:extLst>
          </p:cNvPr>
          <p:cNvCxnSpPr/>
          <p:nvPr/>
        </p:nvCxnSpPr>
        <p:spPr>
          <a:xfrm flipV="1">
            <a:off x="4640536" y="2945514"/>
            <a:ext cx="0" cy="2942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DBA7934D-3E54-49E1-894C-D494A8687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if I had picked k = 4?</a:t>
            </a:r>
          </a:p>
        </p:txBody>
      </p:sp>
      <p:sp>
        <p:nvSpPr>
          <p:cNvPr id="3" name="5-Point Star 2">
            <a:extLst>
              <a:ext uri="{FF2B5EF4-FFF2-40B4-BE49-F238E27FC236}">
                <a16:creationId xmlns:a16="http://schemas.microsoft.com/office/drawing/2014/main" id="{E76D9D21-F5A5-FCEC-1EE6-300A5837D096}"/>
              </a:ext>
            </a:extLst>
          </p:cNvPr>
          <p:cNvSpPr/>
          <p:nvPr/>
        </p:nvSpPr>
        <p:spPr>
          <a:xfrm>
            <a:off x="5684673" y="3453578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03280C-A7A4-6750-0294-3D440E97B8B8}"/>
              </a:ext>
            </a:extLst>
          </p:cNvPr>
          <p:cNvSpPr txBox="1"/>
          <p:nvPr/>
        </p:nvSpPr>
        <p:spPr>
          <a:xfrm>
            <a:off x="5957311" y="3231833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5-Point Star 17">
            <a:extLst>
              <a:ext uri="{FF2B5EF4-FFF2-40B4-BE49-F238E27FC236}">
                <a16:creationId xmlns:a16="http://schemas.microsoft.com/office/drawing/2014/main" id="{44F45CF0-E0A0-07B1-F595-992E377C3ADB}"/>
              </a:ext>
            </a:extLst>
          </p:cNvPr>
          <p:cNvSpPr/>
          <p:nvPr/>
        </p:nvSpPr>
        <p:spPr>
          <a:xfrm>
            <a:off x="4949176" y="4930315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AD93B8-D436-0131-9419-3DFDB8A52850}"/>
              </a:ext>
            </a:extLst>
          </p:cNvPr>
          <p:cNvSpPr txBox="1"/>
          <p:nvPr/>
        </p:nvSpPr>
        <p:spPr>
          <a:xfrm>
            <a:off x="5239237" y="47349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5-Point Star 20">
            <a:extLst>
              <a:ext uri="{FF2B5EF4-FFF2-40B4-BE49-F238E27FC236}">
                <a16:creationId xmlns:a16="http://schemas.microsoft.com/office/drawing/2014/main" id="{02AF4B96-78E6-B347-796D-63BC46AEE7BA}"/>
              </a:ext>
            </a:extLst>
          </p:cNvPr>
          <p:cNvSpPr/>
          <p:nvPr/>
        </p:nvSpPr>
        <p:spPr>
          <a:xfrm>
            <a:off x="6418759" y="4432188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2881AB-36F1-E234-CD57-98A21319AD22}"/>
              </a:ext>
            </a:extLst>
          </p:cNvPr>
          <p:cNvSpPr txBox="1"/>
          <p:nvPr/>
        </p:nvSpPr>
        <p:spPr>
          <a:xfrm>
            <a:off x="6708820" y="4236823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3" name="5-Point Star 22">
            <a:extLst>
              <a:ext uri="{FF2B5EF4-FFF2-40B4-BE49-F238E27FC236}">
                <a16:creationId xmlns:a16="http://schemas.microsoft.com/office/drawing/2014/main" id="{DD6DA088-2904-EDCC-B217-D3E837710C80}"/>
              </a:ext>
            </a:extLst>
          </p:cNvPr>
          <p:cNvSpPr/>
          <p:nvPr/>
        </p:nvSpPr>
        <p:spPr>
          <a:xfrm>
            <a:off x="6779315" y="4719624"/>
            <a:ext cx="547589" cy="547589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AA7202-94E3-DDA1-B10D-2A8C69D6B11C}"/>
              </a:ext>
            </a:extLst>
          </p:cNvPr>
          <p:cNvSpPr txBox="1"/>
          <p:nvPr/>
        </p:nvSpPr>
        <p:spPr>
          <a:xfrm>
            <a:off x="7069376" y="452425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pic>
        <p:nvPicPr>
          <p:cNvPr id="26" name="Picture 2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98B51E33-EC5C-73CA-61FD-A4BF0D85F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167" y="1736254"/>
            <a:ext cx="4990757" cy="87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071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A44EEF4-8129-45A7-F1B7-12F42CDA567F}"/>
              </a:ext>
            </a:extLst>
          </p:cNvPr>
          <p:cNvSpPr txBox="1">
            <a:spLocks/>
          </p:cNvSpPr>
          <p:nvPr/>
        </p:nvSpPr>
        <p:spPr>
          <a:xfrm>
            <a:off x="-301732" y="-53331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15" name="Title 5">
            <a:extLst>
              <a:ext uri="{FF2B5EF4-FFF2-40B4-BE49-F238E27FC236}">
                <a16:creationId xmlns:a16="http://schemas.microsoft.com/office/drawing/2014/main" id="{206BABEA-1342-7758-DC5C-045BB8ED2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864" y="365125"/>
            <a:ext cx="5230564" cy="132556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Based on this visualizations, which cell-type expresses more gene Z: cell-type B or cell-type D? </a:t>
            </a:r>
          </a:p>
        </p:txBody>
      </p:sp>
      <p:pic>
        <p:nvPicPr>
          <p:cNvPr id="16" name="Picture 15" descr="A graph with colorful dots and lines&#10;&#10;Description automatically generated">
            <a:extLst>
              <a:ext uri="{FF2B5EF4-FFF2-40B4-BE49-F238E27FC236}">
                <a16:creationId xmlns:a16="http://schemas.microsoft.com/office/drawing/2014/main" id="{64CDB41C-FE85-379D-3595-749624413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811" y="1779598"/>
            <a:ext cx="5003188" cy="480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25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78543-BB87-92AC-B1A3-5A2C7F77A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2426D31-E1FA-F7ED-6B21-4105B3798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427" y="3671371"/>
            <a:ext cx="3327400" cy="285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15838A-3AAF-76C2-B856-DD7AA1588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427" y="623141"/>
            <a:ext cx="3327400" cy="28575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95C365E-7361-DC97-9E5B-3FEDCCB5E242}"/>
              </a:ext>
            </a:extLst>
          </p:cNvPr>
          <p:cNvSpPr txBox="1">
            <a:spLocks/>
          </p:cNvSpPr>
          <p:nvPr/>
        </p:nvSpPr>
        <p:spPr>
          <a:xfrm>
            <a:off x="-301732" y="-53331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D74BE308-56C4-4C5F-E633-0902E055F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864" y="365125"/>
            <a:ext cx="5230564" cy="132556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Based on this visualizations, which cell-type expresses more gene Z: cell-type B or cell-type D? </a:t>
            </a:r>
          </a:p>
        </p:txBody>
      </p:sp>
      <p:pic>
        <p:nvPicPr>
          <p:cNvPr id="3" name="Picture 2" descr="A graph with colorful dots and lines&#10;&#10;Description automatically generated">
            <a:extLst>
              <a:ext uri="{FF2B5EF4-FFF2-40B4-BE49-F238E27FC236}">
                <a16:creationId xmlns:a16="http://schemas.microsoft.com/office/drawing/2014/main" id="{F9C87EE4-90B9-7DCD-F06B-2D827F462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9811" y="1779598"/>
            <a:ext cx="5003188" cy="48088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519BF4F-A87E-65CA-6523-12EFBE5D5808}"/>
                  </a:ext>
                </a:extLst>
              </p14:cNvPr>
              <p14:cNvContentPartPr/>
              <p14:nvPr/>
            </p14:nvContentPartPr>
            <p14:xfrm>
              <a:off x="8055720" y="3664800"/>
              <a:ext cx="2300400" cy="651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519BF4F-A87E-65CA-6523-12EFBE5D58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39520" y="3648600"/>
                <a:ext cx="2332800" cy="68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08103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86593-ED2E-15BA-1188-570EF8A8A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4E521EF-42DD-AE6D-91D3-70295C968AB9}"/>
              </a:ext>
            </a:extLst>
          </p:cNvPr>
          <p:cNvSpPr txBox="1">
            <a:spLocks/>
          </p:cNvSpPr>
          <p:nvPr/>
        </p:nvSpPr>
        <p:spPr>
          <a:xfrm>
            <a:off x="-301732" y="-53331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FC52670-0718-569C-957D-37E7373BD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3427" y="3671371"/>
            <a:ext cx="3327400" cy="28575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8C2F8C8-4561-61B8-9E75-77E3D1A15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427" y="623141"/>
            <a:ext cx="3327400" cy="2857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8EDC25-99CB-F790-4590-274EA68675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602" y="2194421"/>
            <a:ext cx="4469943" cy="383869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62127FF-0B6D-C091-846C-54A47FF9A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098" y="365125"/>
            <a:ext cx="8676701" cy="132556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Based on these visualizations,</a:t>
            </a:r>
            <a:br>
              <a:rPr lang="en-US" sz="3200" dirty="0"/>
            </a:br>
            <a:r>
              <a:rPr lang="en-US" sz="3200" dirty="0"/>
              <a:t>what is the loading value</a:t>
            </a:r>
            <a:br>
              <a:rPr lang="en-US" sz="3200" dirty="0"/>
            </a:br>
            <a:r>
              <a:rPr lang="en-US" sz="3200" dirty="0"/>
              <a:t>of gene Z on PC2?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BCC0DE-ECE2-CE29-E851-30D82BCFC0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427" y="3671371"/>
            <a:ext cx="3327400" cy="2857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ED3AE5-FA01-EEA6-7475-375772AA4E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3427" y="593534"/>
            <a:ext cx="33274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5783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E56EC-8640-9F94-669C-E50FBA8D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3EF49CA-8239-5CD2-E526-5D7CDAE836A4}"/>
              </a:ext>
            </a:extLst>
          </p:cNvPr>
          <p:cNvSpPr txBox="1">
            <a:spLocks/>
          </p:cNvSpPr>
          <p:nvPr/>
        </p:nvSpPr>
        <p:spPr>
          <a:xfrm>
            <a:off x="-301732" y="-53331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450BBF4-FD98-EA73-C103-99C750D2E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099" y="365125"/>
            <a:ext cx="4693186" cy="132556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Based on these visualizations,</a:t>
            </a:r>
            <a:br>
              <a:rPr lang="en-US" sz="3200" dirty="0"/>
            </a:br>
            <a:r>
              <a:rPr lang="en-US" sz="3200" dirty="0"/>
              <a:t>which population expresses more gene Z: cell-type A or B?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189EA2-36B2-EC21-8C54-E7553FB91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602" y="2194421"/>
            <a:ext cx="4469943" cy="38386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9B4E01-B1F3-B09E-8747-FA5BD8E89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337" y="872818"/>
            <a:ext cx="3592647" cy="5561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21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0912-9BBE-AAB5-FDBF-799C9E47F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B5119C8-B917-F6A3-292C-7330C69CFEDD}"/>
              </a:ext>
            </a:extLst>
          </p:cNvPr>
          <p:cNvSpPr txBox="1">
            <a:spLocks/>
          </p:cNvSpPr>
          <p:nvPr/>
        </p:nvSpPr>
        <p:spPr>
          <a:xfrm>
            <a:off x="-301732" y="-53331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2716CCE-F957-497D-701B-64A7F5CF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098" y="365125"/>
            <a:ext cx="8273668" cy="132556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Based on this t-SNE plot, which population expresses more gene Z: cell-type A or B? What other information do you need to answer this question?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D66ABD-95E8-81C8-354C-8D833C783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183" y="2194420"/>
            <a:ext cx="4469942" cy="3838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605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3D58E-25AE-DE43-C3DF-E7E913644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4F87EA0-139E-DAD1-51A2-34977C7A2F51}"/>
              </a:ext>
            </a:extLst>
          </p:cNvPr>
          <p:cNvSpPr txBox="1">
            <a:spLocks/>
          </p:cNvSpPr>
          <p:nvPr/>
        </p:nvSpPr>
        <p:spPr>
          <a:xfrm>
            <a:off x="-301732" y="-53331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69A4E3D-EC60-6E10-A461-67E75B81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098" y="365125"/>
            <a:ext cx="8273668" cy="1325563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Based on this t-SNE plot, which population expresses more gene Z: cell-type A or B? What other information do you need to answer this question?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0ACA13-5285-D64D-4F3F-1A07235DD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183" y="2194420"/>
            <a:ext cx="4469942" cy="38386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CCCF91-975D-E29D-25C5-65B7CB86D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857" y="2194420"/>
            <a:ext cx="4217766" cy="3754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858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7B772-FE50-DA1F-9029-8F17D4D64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CD4E83B-0705-4575-6FEE-53D02EAE7693}"/>
              </a:ext>
            </a:extLst>
          </p:cNvPr>
          <p:cNvSpPr txBox="1">
            <a:spLocks/>
          </p:cNvSpPr>
          <p:nvPr/>
        </p:nvSpPr>
        <p:spPr>
          <a:xfrm>
            <a:off x="-301732" y="-533317"/>
            <a:ext cx="2312915" cy="2312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>
                <a:solidFill>
                  <a:srgbClr val="FFFFFF"/>
                </a:solidFill>
              </a:rPr>
              <a:t>Practice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6D16CAF-5C5B-7269-EC02-79AF8ACDF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7098" y="365125"/>
            <a:ext cx="8273668" cy="1325563"/>
          </a:xfrm>
        </p:spPr>
        <p:txBody>
          <a:bodyPr>
            <a:normAutofit/>
          </a:bodyPr>
          <a:lstStyle/>
          <a:p>
            <a:r>
              <a:rPr lang="en-US" sz="3200" dirty="0"/>
              <a:t>What can we run k-means clustering on? </a:t>
            </a:r>
            <a:br>
              <a:rPr lang="en-US" sz="3200" dirty="0"/>
            </a:br>
            <a:r>
              <a:rPr lang="en-US" sz="3200" dirty="0"/>
              <a:t>Will the clusters we get be similar?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92904-EC0B-B5C6-8C88-783C5DAB9C12}"/>
              </a:ext>
            </a:extLst>
          </p:cNvPr>
          <p:cNvSpPr txBox="1"/>
          <p:nvPr/>
        </p:nvSpPr>
        <p:spPr>
          <a:xfrm>
            <a:off x="1033992" y="2261292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expression?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9C3E5D-6DAF-5906-6058-C86B41C5BF22}"/>
              </a:ext>
            </a:extLst>
          </p:cNvPr>
          <p:cNvSpPr txBox="1"/>
          <p:nvPr/>
        </p:nvSpPr>
        <p:spPr>
          <a:xfrm>
            <a:off x="1699906" y="3813941"/>
            <a:ext cx="701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PCs?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E12E55-C4A3-4463-1691-00E36DBDF813}"/>
              </a:ext>
            </a:extLst>
          </p:cNvPr>
          <p:cNvSpPr txBox="1"/>
          <p:nvPr/>
        </p:nvSpPr>
        <p:spPr>
          <a:xfrm>
            <a:off x="1651913" y="5430587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tSNE</a:t>
            </a:r>
            <a:r>
              <a:rPr lang="en-US" dirty="0"/>
              <a:t>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48323D-2394-DED5-C614-B0D2BD7BD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913" y="4966040"/>
            <a:ext cx="1942012" cy="16677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F6E6E9B-D4E9-607A-745E-7A9C950EC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347" y="3183961"/>
            <a:ext cx="1942012" cy="16677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29749F8-E176-34C8-7616-F6A7F8D5B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678" y="1576221"/>
            <a:ext cx="1872123" cy="16077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B9702D8-4EC5-045C-E7B2-6E61F11C50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3800" y="1576221"/>
            <a:ext cx="1872125" cy="160774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382F307-D19D-8B62-223C-40C7685FD57E}"/>
                  </a:ext>
                </a:extLst>
              </p14:cNvPr>
              <p14:cNvContentPartPr/>
              <p14:nvPr/>
            </p14:nvContentPartPr>
            <p14:xfrm>
              <a:off x="6148440" y="123120"/>
              <a:ext cx="3341880" cy="2687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382F307-D19D-8B62-223C-40C7685FD5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39080" y="113760"/>
                <a:ext cx="3360600" cy="270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3506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2018</TotalTime>
  <Words>574</Words>
  <Application>Microsoft Macintosh PowerPoint</Application>
  <PresentationFormat>Widescreen</PresentationFormat>
  <Paragraphs>128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-apple-system</vt:lpstr>
      <vt:lpstr>Aptos</vt:lpstr>
      <vt:lpstr>Aptos Display</vt:lpstr>
      <vt:lpstr>Arial</vt:lpstr>
      <vt:lpstr>docs-Roboto</vt:lpstr>
      <vt:lpstr>Office Theme</vt:lpstr>
      <vt:lpstr>EN.580.428  Genomic Data Visualization Lesson 5  K-means clustering</vt:lpstr>
      <vt:lpstr>Lesson learning objectives</vt:lpstr>
      <vt:lpstr>Why cluster?</vt:lpstr>
      <vt:lpstr>K-means clustering algorithm</vt:lpstr>
      <vt:lpstr>K-means clustering algorithm</vt:lpstr>
      <vt:lpstr>K-means clustering algorithm</vt:lpstr>
      <vt:lpstr>K-means clustering algorithm</vt:lpstr>
      <vt:lpstr>K-means clustering algorithm</vt:lpstr>
      <vt:lpstr>K-means clustering algorithm</vt:lpstr>
      <vt:lpstr>K-means clustering algorithm</vt:lpstr>
      <vt:lpstr>How to pick an appropriate k?</vt:lpstr>
      <vt:lpstr>How to pick an appropriate k?</vt:lpstr>
      <vt:lpstr>How to pick an appropriate k?</vt:lpstr>
      <vt:lpstr>How to pick an appropriate k?</vt:lpstr>
      <vt:lpstr>How to pick an appropriate k?</vt:lpstr>
      <vt:lpstr>How to pick an appropriate k?</vt:lpstr>
      <vt:lpstr>How to pick an appropriate k?</vt:lpstr>
      <vt:lpstr>How to pick an appropriate k?</vt:lpstr>
      <vt:lpstr>How to pick an appropriate k?</vt:lpstr>
      <vt:lpstr>Based on this visualizations, which cell-type expresses more gene Z: cell-type B or cell-type D? </vt:lpstr>
      <vt:lpstr>Based on this visualizations, which cell-type expresses more gene Z: cell-type B or cell-type D? </vt:lpstr>
      <vt:lpstr>Based on these visualizations, what is the loading value of gene Z on PC2?</vt:lpstr>
      <vt:lpstr>Based on these visualizations, which population expresses more gene Z: cell-type A or B?</vt:lpstr>
      <vt:lpstr>Based on this t-SNE plot, which population expresses more gene Z: cell-type A or B? What other information do you need to answer this question?</vt:lpstr>
      <vt:lpstr>Based on this t-SNE plot, which population expresses more gene Z: cell-type A or B? What other information do you need to answer this question?</vt:lpstr>
      <vt:lpstr>What can we run k-means clustering on?  Will the clusters we get be similar?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EN.580.428  Genomic Data Visualization Lesson 6  K-means clustering</dc:title>
  <dc:creator>Jean Fan</dc:creator>
  <cp:lastModifiedBy>Jean Fan</cp:lastModifiedBy>
  <cp:revision>5</cp:revision>
  <dcterms:created xsi:type="dcterms:W3CDTF">2024-02-04T23:18:40Z</dcterms:created>
  <dcterms:modified xsi:type="dcterms:W3CDTF">2026-01-01T21:46:55Z</dcterms:modified>
</cp:coreProperties>
</file>