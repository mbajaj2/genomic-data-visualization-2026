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832" r:id="rId2"/>
    <p:sldId id="314" r:id="rId3"/>
    <p:sldId id="828" r:id="rId4"/>
    <p:sldId id="262" r:id="rId5"/>
    <p:sldId id="263" r:id="rId6"/>
    <p:sldId id="271" r:id="rId7"/>
    <p:sldId id="272" r:id="rId8"/>
    <p:sldId id="281" r:id="rId9"/>
    <p:sldId id="284" r:id="rId10"/>
    <p:sldId id="829" r:id="rId11"/>
    <p:sldId id="283" r:id="rId12"/>
    <p:sldId id="830" r:id="rId13"/>
    <p:sldId id="274" r:id="rId14"/>
    <p:sldId id="275" r:id="rId15"/>
    <p:sldId id="83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4T13:33:09.11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27654 8623 16438,'42'-6'179,"1"1"1,6 0 0,2 1-180,-9 4 0,1 0 0,1 0-379,4 0 1,1 0 0,0 0 168,0 0 0,1 0 0,-1 0-860,1 0 0,-1 0 1,0 0 19,-2 0 1,-2 0 0,0 0-960,-5 0 0,0 0 0,-2 0 2078,13 0 1,-4 0 0,5 0 0,-17 0 0</inkml:trace>
  <inkml:trace contextRef="#ctx0" brushRef="#br0" timeOffset="17438">30692 6937 17877,'35'-30'629,"-11"14"1,4 4-630,14 4 0,5 5 0,6-2 0,1 1-1166,-4 4 0,0 0 1211,4 0 0,-1 0 0,-7-1 0,-3 2 83,-7 3 0,-2 1-38,0-1 0,-3 3 315,2 12-405,13-8-720,-25 7-2248,8-16 3263,-19 15 0,-1-15 1,-9 7-1</inkml:trace>
  <inkml:trace contextRef="#ctx0" brushRef="#br0" timeOffset="18421">27811 7741 12210,'-20'2'4318,"53"5"-3869,13-16-389,-12 8 0,6 1 0,1 1-1171,1-1 1,1 1 0,1-2 1110,4-1 0,2-2 0,0 1 30,2 2 0,1 1 0,-1-1-30,-2-2 0,-1-1 0,0 2 0,0 4 0,-1 2 0,1-1 30,-3-2 0,-1-1 0,1 1-30,0 2 0,-1 1 0,1-2 0,0-1 0,0-2 0,-1 1 0,-2 0 0,0 0 0,0 0 211,2 0 0,0 0 0,0 0-211,-5 0 0,0 0 0,0 0 0,-1 0 0,0 0 0,0 0 0,15-1 0,-1 2 89,-4 3 1,0 1 0,-5-5 0,1 2-192,3 7 1,0-1 146,-8-6 0,0-1 44,8 3 1,0 0-45,-7-3 0,-1-2 0,3-3 0,1 0 90,-4 3 0,-2-1 45,-7-2 0,-1 0 90,4-1 0,-3 1 89,2 2 1725,13-7-1904,-25 9 227,8 0-317,-18 0 681,-3 0-2660,-8 0-1289,0 0 0,0 0 0</inkml:trace>
  <inkml:trace contextRef="#ctx0" brushRef="#br0" timeOffset="27549">17188 7016 12660,'11'-11'2608,"-2"2"-2428,-9 35-180,-9 16 0,4-9 0,-1 3-135,-4-1 0,0 0-1395,4 3 1,2 0-1035,-1-7 1,1-1 2598,3 1 0,2-3 0,-1 3 0,0-14 0</inkml:trace>
  <inkml:trace contextRef="#ctx0" brushRef="#br0" timeOffset="27755">17678 6977 11940,'0'48'1169,"1"-15"1,-2 1-1080,-3-3 0,-1 1-596,4 7 1,0-2-440,-3-6 1,-1-3-4155,5 22 5099,9-10 0,-7-21 0,7-10 0</inkml:trace>
  <inkml:trace contextRef="#ctx0" brushRef="#br0" timeOffset="27896">17874 7153 14099,'6'38'299,"-1"0"1,-4-2 0,-2 0-1649,-4 3 0,-1 1 1349,1-5 0,-1-3 0,-3 1 0,9-7 0</inkml:trace>
  <inkml:trace contextRef="#ctx0" brushRef="#br0" timeOffset="28071">18207 7114 15088,'-10'45'60,"1"-1"0,-2-4 0,2-1-960,2 0 1,3-2-5545,4 15 6444,9-22 0,2-3 0,2-6 0,4-3 0</inkml:trace>
  <inkml:trace contextRef="#ctx0" brushRef="#br0" timeOffset="28555">19658 7271 15718,'-20'50'135,"10"-22"0,0 0-3373,-9 22 3238,-1-8 0,9-14 0,3-19 0</inkml:trace>
  <inkml:trace contextRef="#ctx0" brushRef="#br0" timeOffset="28730">19814 7192 14549,'0'34'659,"0"0"1,0-4 0,0 1-1110,0 3 0,0-1-3957,0 17 4407,18-19 0,-14-14 0,14-17 0</inkml:trace>
  <inkml:trace contextRef="#ctx0" brushRef="#br0" timeOffset="28871">20148 7192 13379,'0'39'2249,"0"9"-3958,0 2-4857,8-8 6566,12-14 0,-7-19 0,4-9 0</inkml:trace>
  <inkml:trace contextRef="#ctx0" brushRef="#br0" timeOffset="29005">20442 7173 15178,'0'29'300,"0"0"0,3 1 0,2-1-2999,15 21 2699,10-19 0,-8-14 0,-4-17 0</inkml:trace>
  <inkml:trace contextRef="#ctx0" brushRef="#br0" timeOffset="29121">20834 7114 16707,'10'37'2159,"-1"4"-2969,-5-12 1,1 1 809,0 1 0,1-3 0,5 5 0,-3-7 0</inkml:trace>
  <inkml:trace contextRef="#ctx0" brushRef="#br0" timeOffset="29663">22068 7055 15718,'-19'26'2609,"-1"7"-2699,0 17-900,14-17 1,1-1-5488,-3 12 6477,7-15 0,2-2 0,-1-5 0,0-4 0</inkml:trace>
  <inkml:trace contextRef="#ctx0" brushRef="#br0" timeOffset="29822">22264 7153 16258,'11'50'449,"-6"-22"1,-1 1-2159,-4 21-4857,0-9 6566,9-12 0,-7-21 0,6-8 0</inkml:trace>
  <inkml:trace contextRef="#ctx0" brushRef="#br0" timeOffset="29974">22695 7192 16707,'0'48'1350,"0"-6"-3419,0 5-5847,9-16 7916,11-11 0,-7-12 0,4-8 0</inkml:trace>
  <inkml:trace contextRef="#ctx0" brushRef="#br0" timeOffset="30106">23048 7153 16797,'11'37'2789,"-2"-4"-3149,-9 15-3328,8-18 3688,12-10 0,-7-12 0,5-8 0</inkml:trace>
  <inkml:trace contextRef="#ctx0" brushRef="#br0" timeOffset="30238">23460 7173 18506,'0'48'900,"0"-7"-9355,0 7 8455,8-18 0,-5-10 0,5-11 0</inkml:trace>
  <inkml:trace contextRef="#ctx0" brushRef="#br0" timeOffset="44496">22480 7055 17157,'0'48'450,"0"2"-450,0-17 0,0 2-720,0-1 1,0 1-1170,-1 1 0,2-2 1889,3-3 0,1-3 0,-3 2 0,6-12 0</inkml:trace>
  <inkml:trace contextRef="#ctx0" brushRef="#br0" timeOffset="44714">22950 7016 14549,'0'39'2248,"0"9"-2427,0 2-1710,9 0-2699,2-2 4588,0-17 0,-3-12 0,-8-10 0</inkml:trace>
  <inkml:trace contextRef="#ctx0" brushRef="#br0" timeOffset="44900">23283 7133 13739,'0'48'1889,"0"2"-4857,0 1 2968,9-4 0,-7-25 0,7-4 0</inkml:trace>
  <inkml:trace contextRef="#ctx0" brushRef="#br0" timeOffset="45088">23577 7153 14459,'0'28'2248,"0"3"-3777,0-1-6026,0 7 7555,0-24 0,0 5 0,0-18 0</inkml:trace>
  <inkml:trace contextRef="#ctx0" brushRef="#br0" timeOffset="45613">22303 7251 8612,'-19'20'5397,"-1"-9"-4947,9 6-360,3 3-360,-1 1-3058,7 16 3328,-16-24 0,16 5 0,-7-18 0</inkml:trace>
  <inkml:trace contextRef="#ctx0" brushRef="#br0" timeOffset="46488">20089 7075 12750,'-11'26'-540,"2"6"-2878,0 19 3418,9-22 0,-2-2 0,-7-3 0,9 2 0</inkml:trace>
  <inkml:trace contextRef="#ctx0" brushRef="#br0" timeOffset="46905">19461 7114 8252,'-19'11'2789,"8"6"-2519,2-6-270,9 17-1170,0 12 1170,0 1 0,0-11 0,0-12 0</inkml:trace>
  <inkml:trace contextRef="#ctx0" brushRef="#br0" timeOffset="49755">17482 7271 9062,'0'48'-720,"0"-20"1,0 2 719,0 6 0,0-2 0,0 10 0,0-10 0</inkml:trace>
  <inkml:trace contextRef="#ctx0" brushRef="#br0" timeOffset="50147">16914 7192 7892,'-20'-8'2159,"9"14"-1889,-6-4-270,15 53-180,-16-18-1034,17 8 0,0 1 1214,-16 0 0,14 2 0,-5-31 0</inkml:trace>
  <inkml:trace contextRef="#ctx0" brushRef="#br0" timeOffset="50414">16718 6977 8252,'-9'41'720,"-2"13"-630,-8-21-135,12-2 0,3 3-1170,-5-4 1,0 1 1214,3 14 0,1-2 0,-6 2 0,3-1 0</inkml:trace>
  <inkml:trace contextRef="#ctx0" brushRef="#br0" timeOffset="50780">17051 7231 9062,'0'51'-90,"0"-23"0,0 0-945,0 2 1,0-1 1034,-9 23 0,7-13 0,-7-21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1238A-6618-1B46-A149-4BC456FE0F06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1BCAA-491C-524D-BA54-492F1F993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50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Approximately 360,000 mRNA molecules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 present in a single mammalian cell, made up of approximately 12,000 different transcripts with a typical length of around 2 kb.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2F5F9-25EA-1142-997E-0507C8ED77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2F5F9-25EA-1142-997E-0507C8ED77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61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2F5F9-25EA-1142-997E-0507C8ED77C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48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2F5F9-25EA-1142-997E-0507C8ED77C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3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A0C4-7721-9A2A-E356-75EF883B5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CBECE6-CE17-0B79-2302-0600A7060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EF55E-10D6-6ACC-A7AC-63A13CFC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9084-0319-0CC8-1F7A-7F81BB135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651D2-CCBD-6482-078E-94254361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05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3656-B136-0FA1-A524-7A7F4A30F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1475-49F7-8CE5-33D7-D4ACB6D97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7AB1A-DDE0-F024-4FB1-67C43F5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5728E-EC17-EFE2-D1C0-018232D2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4952A-A952-62D6-5380-A9E07A44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9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9CF1-D276-1ADD-5668-689E9616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8BADD-E6D3-743C-3D99-6ED5F1916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FB0A6-6AE6-4D13-4B40-0E351AC1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EE30A-8199-8863-4DA4-83F579B29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93C67-9F4A-6A09-84BC-0FFFEB62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4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E83E-59A8-3AC0-48C6-ECCDF92EA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DA0FE-0A2F-927D-DA58-1D0C19522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08755-2083-10FD-9BE6-A2D6E4E88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403B3-10C7-6E78-16CC-96A6C0BF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93B1B-BFB9-F56C-E6CF-C637A69E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65330-D5F1-F3B2-1384-D0FF3DDC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6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DFDE-D187-536A-C599-6544B8E5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25A45-2239-8180-C7D8-593747372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45093-8411-7A7F-92A2-21BECC6E4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E8F36-D7B1-2B53-A8E1-4E3169BC6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ACE68-A263-4F4C-1286-F1F5548F2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B32452-C8BA-3D6E-1386-13C93004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F3953-4876-D1CD-775B-41E2130E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A2019-D137-7268-8CCF-273BB044D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9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2F47-9E51-FFF8-3EA2-4E4FFABF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3B336-B143-7EFF-BACF-640DBA15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C3000-71FB-0356-B14C-134F17C2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B3F7E-9BA3-D3EA-D4DB-2F0586F22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9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1C88A-E7FE-9216-1CB7-2A558DA32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0FEEE-3925-68D1-8C4A-5741E93B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E76CF-5375-6F93-8139-5E199C4B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6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FCBF-6C95-65D0-F311-C9AB7FC77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11E2-39D1-A532-7148-32BD7FB13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C5172-9678-112C-80F2-685A60307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C5050-BFE3-4CB2-E271-B7713954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090B1-DFBE-22DE-2A15-E7BB5BD8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52A77-1F1C-683C-A7A2-E800465D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09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3559-0C15-CA1A-5BAE-F21DF918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9E9F59-855C-79B7-5890-3FA492273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E6E24-B306-1CA2-6E88-C9F9F2867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CF140-0238-5015-2B1C-34170C01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CBC10-0E6F-83F9-AB9C-3B2003EF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184A3-E0B3-886D-3595-1A4B5EAB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3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2F4C-6A0A-7C67-39F6-C0F48A7F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60005-07ED-F609-3FE5-45F348955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E71F-B08E-7E51-DD44-73FD6558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415ED-A880-D109-01A5-AA89DD40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EB2DB-D196-BC92-36FF-CA21F662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93FBE8-F23D-BAD8-DB64-3D6E98639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7E117-04B0-BFB1-BDBD-B15393AE9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7463F-F98B-0068-274A-F9C56EE5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C1EA0-43B8-CD54-E5BB-CBA3E033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37EB3-4582-9324-97A9-5F895AA4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8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DCEE5-8BE9-A651-9BF3-BB503644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7FB9D-9A15-9597-7E55-842441906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563EF-F98E-A6D9-6DFF-69C656F54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76C4F-B74E-694E-AE90-C56A68467D42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314A7-46A8-33FF-ABCF-090536E84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E7098-4E5A-582A-CCB4-963012C0F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8A070-5363-AF4C-86B7-B678D3475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0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rxiv.org/content/10.1101/2021.06.06.447244v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3FA9A-50F5-C880-104C-403C21B85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Spatial Proteomics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611D2C-6994-BED3-ED24-8746823184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Prof. Jean Fan</a:t>
            </a:r>
          </a:p>
        </p:txBody>
      </p:sp>
    </p:spTree>
    <p:extLst>
      <p:ext uri="{BB962C8B-B14F-4D97-AF65-F5344CB8AC3E}">
        <p14:creationId xmlns:p14="http://schemas.microsoft.com/office/powerpoint/2010/main" val="1984882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DD9A8-730C-8C0E-C8AB-5968494D6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12DC4-FF74-2B7C-87CD-827D0E96D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7C3E-1472-B5FE-74E0-E667EEC3B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about spatial epigenomics</a:t>
            </a:r>
          </a:p>
          <a:p>
            <a:r>
              <a:rPr lang="en-US" dirty="0"/>
              <a:t>Analyze and visualize a new mystery dataset together</a:t>
            </a:r>
          </a:p>
        </p:txBody>
      </p:sp>
    </p:spTree>
    <p:extLst>
      <p:ext uri="{BB962C8B-B14F-4D97-AF65-F5344CB8AC3E}">
        <p14:creationId xmlns:p14="http://schemas.microsoft.com/office/powerpoint/2010/main" val="26994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49A1-52CA-8E49-9FB4-510DF13C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epigenetics? </a:t>
            </a:r>
          </a:p>
        </p:txBody>
      </p:sp>
    </p:spTree>
    <p:extLst>
      <p:ext uri="{BB962C8B-B14F-4D97-AF65-F5344CB8AC3E}">
        <p14:creationId xmlns:p14="http://schemas.microsoft.com/office/powerpoint/2010/main" val="331378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pigenetics: Fundamentals, History, and Examples | What is Epigenetics?">
            <a:extLst>
              <a:ext uri="{FF2B5EF4-FFF2-40B4-BE49-F238E27FC236}">
                <a16:creationId xmlns:a16="http://schemas.microsoft.com/office/drawing/2014/main" id="{051BBB1D-F7EC-EB4A-9CFD-328356D52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87" y="550520"/>
            <a:ext cx="10477226" cy="575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08161F-50CC-054B-9235-AEDDD70641CD}"/>
              </a:ext>
            </a:extLst>
          </p:cNvPr>
          <p:cNvSpPr txBox="1"/>
          <p:nvPr/>
        </p:nvSpPr>
        <p:spPr>
          <a:xfrm>
            <a:off x="145773" y="6428679"/>
            <a:ext cx="5808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https://</a:t>
            </a:r>
            <a:r>
              <a:rPr lang="en-US" dirty="0" err="1"/>
              <a:t>www.whatisepigenetics.com</a:t>
            </a:r>
            <a:r>
              <a:rPr lang="en-US" dirty="0"/>
              <a:t>/fundamentals/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337EF-8A3A-4D4C-816C-DF838EAFE62C}"/>
              </a:ext>
            </a:extLst>
          </p:cNvPr>
          <p:cNvSpPr txBox="1"/>
          <p:nvPr/>
        </p:nvSpPr>
        <p:spPr>
          <a:xfrm>
            <a:off x="3560324" y="5000018"/>
            <a:ext cx="1154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(a type of </a:t>
            </a:r>
          </a:p>
          <a:p>
            <a:r>
              <a:rPr lang="en-US" b="1" dirty="0"/>
              <a:t>protein)</a:t>
            </a:r>
          </a:p>
        </p:txBody>
      </p:sp>
    </p:spTree>
    <p:extLst>
      <p:ext uri="{BB962C8B-B14F-4D97-AF65-F5344CB8AC3E}">
        <p14:creationId xmlns:p14="http://schemas.microsoft.com/office/powerpoint/2010/main" val="53660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B4E8-67DE-134C-8594-62173BACA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76068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What parts of DNA are accessible for transcription?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FD57-2872-8749-BE7B-D853532AE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31445"/>
            <a:ext cx="4087091" cy="4351338"/>
          </a:xfrm>
        </p:spPr>
        <p:txBody>
          <a:bodyPr>
            <a:normAutofit/>
          </a:bodyPr>
          <a:lstStyle/>
          <a:p>
            <a:r>
              <a:rPr lang="en-US" dirty="0"/>
              <a:t>ATAC-seq: Assay for Transposase-Accessible Chromatin using Sequencing</a:t>
            </a:r>
          </a:p>
          <a:p>
            <a:r>
              <a:rPr lang="en-US" dirty="0"/>
              <a:t>Why could this be interesting?</a:t>
            </a:r>
          </a:p>
          <a:p>
            <a:endParaRPr lang="en-US" dirty="0"/>
          </a:p>
        </p:txBody>
      </p:sp>
      <p:pic>
        <p:nvPicPr>
          <p:cNvPr id="13314" name="Picture 2" descr="GENEWIZ from Azenta | ATAC-Seq">
            <a:extLst>
              <a:ext uri="{FF2B5EF4-FFF2-40B4-BE49-F238E27FC236}">
                <a16:creationId xmlns:a16="http://schemas.microsoft.com/office/drawing/2014/main" id="{0C827FDE-F673-EB46-B65A-221FADF1D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290" y="1625747"/>
            <a:ext cx="5324764" cy="485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963BE7-49D2-9543-9C39-EBEC890D91A3}"/>
              </a:ext>
            </a:extLst>
          </p:cNvPr>
          <p:cNvSpPr txBox="1"/>
          <p:nvPr/>
        </p:nvSpPr>
        <p:spPr>
          <a:xfrm>
            <a:off x="9860396" y="1625747"/>
            <a:ext cx="188306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genetically engineered hyperactive Tn5 transposase (2013) that simultaneously cuts open chromatin leaving a staggered nick and ligates sequencing adapters to these regions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CB4C747-5CC4-EE32-BDE5-B3BFDD993B85}"/>
                  </a:ext>
                </a:extLst>
              </p14:cNvPr>
              <p14:cNvContentPartPr/>
              <p14:nvPr/>
            </p14:nvContentPartPr>
            <p14:xfrm>
              <a:off x="5983200" y="2468880"/>
              <a:ext cx="5376600" cy="635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CB4C747-5CC4-EE32-BDE5-B3BFDD993B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7000" y="2452680"/>
                <a:ext cx="5409000" cy="66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2430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B8189-FC49-FA4E-8A6A-3FEBFB07B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ATAC-seq data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A27149-55FF-F14F-B891-897ED8414921}"/>
              </a:ext>
            </a:extLst>
          </p:cNvPr>
          <p:cNvCxnSpPr/>
          <p:nvPr/>
        </p:nvCxnSpPr>
        <p:spPr>
          <a:xfrm>
            <a:off x="1054769" y="4812632"/>
            <a:ext cx="10515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069DFA-D9B7-904E-9FD7-27B06DC2F29F}"/>
              </a:ext>
            </a:extLst>
          </p:cNvPr>
          <p:cNvSpPr txBox="1"/>
          <p:nvPr/>
        </p:nvSpPr>
        <p:spPr>
          <a:xfrm>
            <a:off x="5622758" y="5005137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Genome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B662F-8EE4-7A40-811A-B209E8DEF6FE}"/>
              </a:ext>
            </a:extLst>
          </p:cNvPr>
          <p:cNvSpPr txBox="1"/>
          <p:nvPr/>
        </p:nvSpPr>
        <p:spPr>
          <a:xfrm>
            <a:off x="1054769" y="3577026"/>
            <a:ext cx="1781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Alignment: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5D125-F461-A945-9BFD-AF1F4F95B2C2}"/>
              </a:ext>
            </a:extLst>
          </p:cNvPr>
          <p:cNvSpPr txBox="1"/>
          <p:nvPr/>
        </p:nvSpPr>
        <p:spPr>
          <a:xfrm>
            <a:off x="1083467" y="2545535"/>
            <a:ext cx="1699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Sequence: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DAF76D-6AD6-DC48-AFDF-265B6FF64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441" y="2467562"/>
            <a:ext cx="2181559" cy="6791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20950D-40AC-5741-9020-21A2B820F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054" y="2403074"/>
            <a:ext cx="2181559" cy="679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D16E82-B21D-0740-802C-E66ACEC75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667" y="2403074"/>
            <a:ext cx="2181559" cy="67916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370668-838C-8943-A10C-218E26149492}"/>
              </a:ext>
            </a:extLst>
          </p:cNvPr>
          <p:cNvCxnSpPr>
            <a:cxnSpLocks/>
          </p:cNvCxnSpPr>
          <p:nvPr/>
        </p:nvCxnSpPr>
        <p:spPr>
          <a:xfrm>
            <a:off x="5622758" y="4609323"/>
            <a:ext cx="1244573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B1C0E2-43F8-1343-9A1B-5647881E1054}"/>
              </a:ext>
            </a:extLst>
          </p:cNvPr>
          <p:cNvCxnSpPr>
            <a:cxnSpLocks/>
          </p:cNvCxnSpPr>
          <p:nvPr/>
        </p:nvCxnSpPr>
        <p:spPr>
          <a:xfrm>
            <a:off x="6043260" y="4444482"/>
            <a:ext cx="1244573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517541-4C17-5548-BBC0-CECC11F4EB00}"/>
              </a:ext>
            </a:extLst>
          </p:cNvPr>
          <p:cNvCxnSpPr>
            <a:cxnSpLocks/>
          </p:cNvCxnSpPr>
          <p:nvPr/>
        </p:nvCxnSpPr>
        <p:spPr>
          <a:xfrm>
            <a:off x="6245044" y="4271307"/>
            <a:ext cx="1244573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DD0B3E-0177-6B45-89F9-3D6FFAC8D575}"/>
              </a:ext>
            </a:extLst>
          </p:cNvPr>
          <p:cNvCxnSpPr>
            <a:cxnSpLocks/>
          </p:cNvCxnSpPr>
          <p:nvPr/>
        </p:nvCxnSpPr>
        <p:spPr>
          <a:xfrm>
            <a:off x="5809987" y="4100246"/>
            <a:ext cx="1244573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6DF935-CB33-D040-81A7-603E99C448AF}"/>
              </a:ext>
            </a:extLst>
          </p:cNvPr>
          <p:cNvCxnSpPr>
            <a:cxnSpLocks/>
          </p:cNvCxnSpPr>
          <p:nvPr/>
        </p:nvCxnSpPr>
        <p:spPr>
          <a:xfrm>
            <a:off x="6338659" y="3935407"/>
            <a:ext cx="1244573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918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1250D-3117-AB47-8D75-5740EBD5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ATAC-seq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685733-1255-A74B-B01F-89F30B611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141" t="-293" r="29332" b="9265"/>
          <a:stretch/>
        </p:blipFill>
        <p:spPr>
          <a:xfrm>
            <a:off x="3077029" y="4169447"/>
            <a:ext cx="5512789" cy="607142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3FF18B-0372-1B47-8C1E-89D691228286}"/>
              </a:ext>
            </a:extLst>
          </p:cNvPr>
          <p:cNvCxnSpPr/>
          <p:nvPr/>
        </p:nvCxnSpPr>
        <p:spPr>
          <a:xfrm>
            <a:off x="1054769" y="5110806"/>
            <a:ext cx="10515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35ACFE-11B3-6D41-AB8A-393603879E21}"/>
              </a:ext>
            </a:extLst>
          </p:cNvPr>
          <p:cNvSpPr txBox="1"/>
          <p:nvPr/>
        </p:nvSpPr>
        <p:spPr>
          <a:xfrm>
            <a:off x="5622758" y="5303311"/>
            <a:ext cx="1431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Genome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BDA857-70C0-7849-AC78-0272FDAD5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43978"/>
            <a:ext cx="10555923" cy="8759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32058E-32CA-FF47-AEB9-C61D89CD1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61" y="2185534"/>
            <a:ext cx="10515600" cy="8088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29077F-B559-7445-B4B0-D269FD390E92}"/>
              </a:ext>
            </a:extLst>
          </p:cNvPr>
          <p:cNvSpPr txBox="1"/>
          <p:nvPr/>
        </p:nvSpPr>
        <p:spPr>
          <a:xfrm>
            <a:off x="10406516" y="1993030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Cell-type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069B7-F1C8-994C-9D6B-19EBBC2C4948}"/>
              </a:ext>
            </a:extLst>
          </p:cNvPr>
          <p:cNvSpPr txBox="1"/>
          <p:nvPr/>
        </p:nvSpPr>
        <p:spPr>
          <a:xfrm>
            <a:off x="10414531" y="2959312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Cell-type B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9EFB7DEA-9A22-2143-AEAD-C23DA0F8B1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" t="2135" r="86878" b="15063"/>
          <a:stretch/>
        </p:blipFill>
        <p:spPr>
          <a:xfrm>
            <a:off x="9344814" y="4169446"/>
            <a:ext cx="1342343" cy="5522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29B59A-FE8F-D246-BE20-6E55B729546E}"/>
              </a:ext>
            </a:extLst>
          </p:cNvPr>
          <p:cNvSpPr txBox="1"/>
          <p:nvPr/>
        </p:nvSpPr>
        <p:spPr>
          <a:xfrm>
            <a:off x="10836194" y="3900672"/>
            <a:ext cx="734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genes</a:t>
            </a:r>
          </a:p>
        </p:txBody>
      </p:sp>
    </p:spTree>
    <p:extLst>
      <p:ext uri="{BB962C8B-B14F-4D97-AF65-F5344CB8AC3E}">
        <p14:creationId xmlns:p14="http://schemas.microsoft.com/office/powerpoint/2010/main" val="250473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D5C6D1-D017-404F-9646-5A5B20ACA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Food for thought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C36B96-88C8-C940-8CD8-DAB82EB2A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many RNA molecules are in a typical mammalian cell? </a:t>
            </a:r>
          </a:p>
          <a:p>
            <a:r>
              <a:rPr lang="en-US" dirty="0"/>
              <a:t>How many accessible regions are in the genome of a mammalian cell?</a:t>
            </a:r>
          </a:p>
        </p:txBody>
      </p:sp>
    </p:spTree>
    <p:extLst>
      <p:ext uri="{BB962C8B-B14F-4D97-AF65-F5344CB8AC3E}">
        <p14:creationId xmlns:p14="http://schemas.microsoft.com/office/powerpoint/2010/main" val="2510235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04BA-9D63-424E-9697-8697745F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Food for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918D-AC5A-144C-9D28-A071EE470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I want to sequence every RNA molecule, at least how many reads do I need to sequence?</a:t>
            </a:r>
          </a:p>
          <a:p>
            <a:r>
              <a:rPr lang="en-US" dirty="0"/>
              <a:t>If I want to sequence every accessible region, at least how many reads do I need to sequence?</a:t>
            </a:r>
          </a:p>
        </p:txBody>
      </p:sp>
    </p:spTree>
    <p:extLst>
      <p:ext uri="{BB962C8B-B14F-4D97-AF65-F5344CB8AC3E}">
        <p14:creationId xmlns:p14="http://schemas.microsoft.com/office/powerpoint/2010/main" val="3260296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04BA-9D63-424E-9697-8697745F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Food for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918D-AC5A-144C-9D28-A071EE470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seen a range of measurements for gene expression (0 to X copies) in a single cell</a:t>
            </a:r>
          </a:p>
          <a:p>
            <a:r>
              <a:rPr lang="en-US" dirty="0"/>
              <a:t>What is the range of measurements you expect for accessibility data in a single cell?</a:t>
            </a:r>
          </a:p>
        </p:txBody>
      </p:sp>
    </p:spTree>
    <p:extLst>
      <p:ext uri="{BB962C8B-B14F-4D97-AF65-F5344CB8AC3E}">
        <p14:creationId xmlns:p14="http://schemas.microsoft.com/office/powerpoint/2010/main" val="4169532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093D2-F847-7E41-8A8E-A349B498D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to spatially resolved by sequencing (spatial ATAC-seq via </a:t>
            </a:r>
            <a:r>
              <a:rPr lang="en-US" dirty="0" err="1"/>
              <a:t>DBiT</a:t>
            </a:r>
            <a:r>
              <a:rPr lang="en-US" dirty="0"/>
              <a:t>-seq)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75EB4444-BD39-5E41-ABB7-FC7357D3E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31441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380528-D7A0-F24B-BD94-782F3563C1CE}"/>
              </a:ext>
            </a:extLst>
          </p:cNvPr>
          <p:cNvSpPr txBox="1"/>
          <p:nvPr/>
        </p:nvSpPr>
        <p:spPr>
          <a:xfrm>
            <a:off x="218661" y="6311900"/>
            <a:ext cx="70248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https://www.biorxiv.org/content/10.1101/2021.06.06.447244v1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550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4AF44-83C6-394B-A729-27B070EB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ATAC-seq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7E9BBC-FF54-E844-9951-A75C7C50B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Still get count and position matrix</a:t>
            </a:r>
          </a:p>
          <a:p>
            <a:r>
              <a:rPr lang="en-US" dirty="0"/>
              <a:t>Instead of spot by gene, we get spot by DNA region</a:t>
            </a:r>
          </a:p>
          <a:p>
            <a:r>
              <a:rPr lang="en-US" dirty="0"/>
              <a:t>In theory, we can cluster and do all the same analyses as spatial transcriptomics</a:t>
            </a:r>
          </a:p>
        </p:txBody>
      </p:sp>
    </p:spTree>
    <p:extLst>
      <p:ext uri="{BB962C8B-B14F-4D97-AF65-F5344CB8AC3E}">
        <p14:creationId xmlns:p14="http://schemas.microsoft.com/office/powerpoint/2010/main" val="154418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AB16C-7248-7E41-BFD2-9D398809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D0774-8DEE-8C4A-90ED-D7791C3A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spatial transcriptomics analysis, clusters of cells are transcriptionally similar (express similar genes). What do these spatial ATAC-seq clusters mean?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910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AB16C-7248-7E41-BFD2-9D398809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D0774-8DEE-8C4A-90ED-D7791C3A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spatial transcriptomics analysis, differential testing could help us identify which genes were upregulated in clusters. Can we do differential testing with ATAC-seq?</a:t>
            </a:r>
          </a:p>
          <a:p>
            <a:r>
              <a:rPr lang="en-US" dirty="0"/>
              <a:t>How would you interpret the results?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64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04BA-9D63-424E-9697-8697745F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Food for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918D-AC5A-144C-9D28-A071EE470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spatial proteomics, we talked about how if we don’t titrate antibodies appropriately, we can get a lot of non-specific binding resulting in false positives (detecting proteins where there are none)</a:t>
            </a:r>
          </a:p>
          <a:p>
            <a:r>
              <a:rPr lang="en-US" dirty="0"/>
              <a:t>Are we more likely to get false positives or false negatives with spatial </a:t>
            </a:r>
            <a:r>
              <a:rPr lang="en-US" dirty="0" err="1"/>
              <a:t>atac</a:t>
            </a:r>
            <a:r>
              <a:rPr lang="en-US" dirty="0"/>
              <a:t>-seq?</a:t>
            </a:r>
          </a:p>
        </p:txBody>
      </p:sp>
    </p:spTree>
    <p:extLst>
      <p:ext uri="{BB962C8B-B14F-4D97-AF65-F5344CB8AC3E}">
        <p14:creationId xmlns:p14="http://schemas.microsoft.com/office/powerpoint/2010/main" val="1267814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420</Words>
  <Application>Microsoft Macintosh PowerPoint</Application>
  <PresentationFormat>Widescreen</PresentationFormat>
  <Paragraphs>52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Spatial Proteomics</vt:lpstr>
      <vt:lpstr>Lesson Objectives</vt:lpstr>
      <vt:lpstr>Why epigenetics? </vt:lpstr>
      <vt:lpstr>PowerPoint Presentation</vt:lpstr>
      <vt:lpstr>What parts of DNA are accessible for transcription?</vt:lpstr>
      <vt:lpstr>Interpreting ATAC-seq data</vt:lpstr>
      <vt:lpstr>Visualizing ATAC-seq data</vt:lpstr>
      <vt:lpstr>Food for thought</vt:lpstr>
      <vt:lpstr>Food for thought</vt:lpstr>
      <vt:lpstr>Food for thought</vt:lpstr>
      <vt:lpstr>Getting to spatially resolved by sequencing (spatial ATAC-seq via DBiT-seq)</vt:lpstr>
      <vt:lpstr>Spatial ATAC-seq</vt:lpstr>
      <vt:lpstr>Practice Question</vt:lpstr>
      <vt:lpstr>Practice Question</vt:lpstr>
      <vt:lpstr>Food for thought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Fan</dc:creator>
  <cp:lastModifiedBy>Jean Fan</cp:lastModifiedBy>
  <cp:revision>1</cp:revision>
  <dcterms:created xsi:type="dcterms:W3CDTF">2026-01-01T21:56:41Z</dcterms:created>
  <dcterms:modified xsi:type="dcterms:W3CDTF">2026-01-01T21:57:58Z</dcterms:modified>
</cp:coreProperties>
</file>